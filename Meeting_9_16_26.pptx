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5" r:id="rId10"/>
  </p:sldIdLst>
  <p:sldSz cx="12192000" cy="6858000"/>
  <p:notesSz cx="6858000" cy="9144000"/>
  <p:embeddedFontLst>
    <p:embeddedFont>
      <p:font typeface="Consolas" panose="020B0609020204030204" pitchFamily="49"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1373" autoAdjust="0"/>
  </p:normalViewPr>
  <p:slideViewPr>
    <p:cSldViewPr snapToGrid="0">
      <p:cViewPr varScale="1">
        <p:scale>
          <a:sx n="34" d="100"/>
          <a:sy n="34" d="100"/>
        </p:scale>
        <p:origin x="2549" y="25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10000"/>
              </a:lnSpc>
              <a:spcBef>
                <a:spcPts val="0"/>
              </a:spcBef>
              <a:buNone/>
            </a:pPr>
            <a:r>
              <a:rPr sz="1800" b="0" i="0"/>
              <a:t>Since we last met, I've reworked how the profiling tool is organized and how it collects and sends data. I'll walk through those changes, then explain the performance tests I'm working on and the direction I'm exploring for workload characterization.</a:t>
            </a:r>
          </a:p>
          <a:p>
            <a:pPr marL="0" lvl="0" indent="0" algn="l">
              <a:lnSpc>
                <a:spcPct val="110000"/>
              </a:lnSpc>
              <a:spcBef>
                <a:spcPts val="0"/>
              </a:spcBef>
              <a:buNone/>
            </a:pPr>
            <a:endParaRPr/>
          </a:p>
          <a:p>
            <a:pPr marL="0" lvl="0" indent="0" algn="l">
              <a:lnSpc>
                <a:spcPct val="110000"/>
              </a:lnSpc>
              <a:spcBef>
                <a:spcPts val="0"/>
              </a:spcBef>
              <a:buNone/>
            </a:pPr>
            <a:r>
              <a:rPr sz="1800" b="0" i="0"/>
              <a:t>The tool changes are implemented, but the broader testing is still in progress. I'd like your feedback on whether the structure makes sense and how you would approach these studies on AMD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10000"/>
              </a:lnSpc>
              <a:spcBef>
                <a:spcPts val="0"/>
              </a:spcBef>
              <a:buNone/>
            </a:pPr>
            <a:r>
              <a:rPr sz="1800" b="0" i="0"/>
              <a:t>Originally, I had separated the main profiling functions into different tools under different folders. Application tracing, PC sampling, and device counters each had their own implementation. That made it harder to maintain shared behavior or configure everything consistently.</a:t>
            </a:r>
          </a:p>
          <a:p>
            <a:pPr marL="0" lvl="0" indent="0" algn="l">
              <a:lnSpc>
                <a:spcPct val="110000"/>
              </a:lnSpc>
              <a:spcBef>
                <a:spcPts val="0"/>
              </a:spcBef>
              <a:buNone/>
            </a:pPr>
            <a:endParaRPr/>
          </a:p>
          <a:p>
            <a:pPr marL="0" lvl="0" indent="0" algn="l">
              <a:lnSpc>
                <a:spcPct val="110000"/>
              </a:lnSpc>
              <a:spcBef>
                <a:spcPts val="0"/>
              </a:spcBef>
              <a:buNone/>
            </a:pPr>
            <a:r>
              <a:rPr sz="1800" b="0" i="0"/>
              <a:t>I brought those functions together into one configurable tool. Under src, each collector still has its own file, but startup, configuration, and sending data now have shared implementations. The configuration file determines which collection modes to enable and which settings to use.</a:t>
            </a:r>
          </a:p>
          <a:p>
            <a:pPr marL="0" lvl="0" indent="0" algn="l">
              <a:lnSpc>
                <a:spcPct val="110000"/>
              </a:lnSpc>
              <a:spcBef>
                <a:spcPts val="0"/>
              </a:spcBef>
              <a:buNone/>
            </a:pPr>
            <a:endParaRPr/>
          </a:p>
          <a:p>
            <a:pPr marL="0" lvl="0" indent="0" algn="l">
              <a:lnSpc>
                <a:spcPct val="110000"/>
              </a:lnSpc>
              <a:spcBef>
                <a:spcPts val="0"/>
              </a:spcBef>
              <a:buNone/>
            </a:pPr>
            <a:r>
              <a:rPr sz="1800" b="0" i="0"/>
              <a:t>The include folder contains the record types and the shared window class. The LDMS folder contains the receiving plugin and its configuration, and experiments contains the test scripts I'm developing locally.</a:t>
            </a:r>
          </a:p>
          <a:p>
            <a:pPr marL="0" lvl="0" indent="0" algn="l">
              <a:lnSpc>
                <a:spcPct val="110000"/>
              </a:lnSpc>
              <a:spcBef>
                <a:spcPts val="0"/>
              </a:spcBef>
              <a:buNone/>
            </a:pPr>
            <a:endParaRPr sz="1800" b="0" i="0"/>
          </a:p>
          <a:p>
            <a:pPr marL="0" lvl="0" indent="0" algn="l">
              <a:lnSpc>
                <a:spcPct val="110000"/>
              </a:lnSpc>
              <a:spcBef>
                <a:spcPts val="0"/>
              </a:spcBef>
              <a:buNone/>
            </a:pPr>
            <a:r>
              <a:rPr sz="1800" b="0" i="0"/>
              <a:t>So the main change is that the collection functions now live in one tool, while each part still has a clear responsibility.</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10000"/>
              </a:lnSpc>
              <a:spcBef>
                <a:spcPts val="0"/>
              </a:spcBef>
              <a:buNone/>
            </a:pPr>
            <a:r>
              <a:rPr sz="1800" b="0" i="0"/>
              <a:t>Another change is what I do with the information after collecting it. Earlier versions summarized some of the data inside the collector, for example by accumulating counts or ranking hotspots.</a:t>
            </a:r>
          </a:p>
          <a:p>
            <a:pPr marL="0" lvl="0" indent="0" algn="l">
              <a:lnSpc>
                <a:spcPct val="110000"/>
              </a:lnSpc>
              <a:spcBef>
                <a:spcPts val="0"/>
              </a:spcBef>
              <a:buNone/>
            </a:pPr>
            <a:endParaRPr/>
          </a:p>
          <a:p>
            <a:pPr marL="0" lvl="0" indent="0" algn="l">
              <a:lnSpc>
                <a:spcPct val="110000"/>
              </a:lnSpc>
              <a:spcBef>
                <a:spcPts val="0"/>
              </a:spcBef>
              <a:buNone/>
            </a:pPr>
            <a:r>
              <a:rPr sz="1800" b="0" i="0"/>
              <a:t>After doing more research and talking with Jim, I decided to keep the individual records available for analysis. The tool still decodes the SDK output into record fields, but it no longer reduces everything to a fixed summary while collecting it.</a:t>
            </a:r>
          </a:p>
          <a:p>
            <a:pPr marL="0" lvl="0" indent="0" algn="l">
              <a:lnSpc>
                <a:spcPct val="110000"/>
              </a:lnSpc>
              <a:spcBef>
                <a:spcPts val="0"/>
              </a:spcBef>
              <a:buNone/>
            </a:pPr>
            <a:endParaRPr/>
          </a:p>
          <a:p>
            <a:pPr marL="0" lvl="0" indent="0" algn="l">
              <a:lnSpc>
                <a:spcPct val="110000"/>
              </a:lnSpc>
              <a:spcBef>
                <a:spcPts val="0"/>
              </a:spcBef>
              <a:buNone/>
            </a:pPr>
            <a:r>
              <a:rPr sz="1800" b="0" i="0"/>
              <a:t>That gives us more flexibility while we're still figuring out which measurements matter. We can change the counters we collect, examine how behavior changes over time, and try different summaries afterward without rebuilding that analysis into the collector.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10000"/>
              </a:lnSpc>
              <a:spcBef>
                <a:spcPts val="0"/>
              </a:spcBef>
              <a:buNone/>
            </a:pPr>
            <a:r>
              <a:rPr sz="1800" b="0" i="0"/>
              <a:t>This is how the pieces fit together when the tool runs. The profiling library loads inside the HIP application. It starts the collectors selected in the configuration file, and those collectors turn the SDK output into records.</a:t>
            </a:r>
          </a:p>
          <a:p>
            <a:pPr marL="0" lvl="0" indent="0" algn="l">
              <a:lnSpc>
                <a:spcPct val="110000"/>
              </a:lnSpc>
              <a:spcBef>
                <a:spcPts val="0"/>
              </a:spcBef>
              <a:buNone/>
            </a:pPr>
            <a:endParaRPr/>
          </a:p>
          <a:p>
            <a:pPr marL="0" lvl="0" indent="0" algn="l">
              <a:lnSpc>
                <a:spcPct val="110000"/>
              </a:lnSpc>
              <a:spcBef>
                <a:spcPts val="0"/>
              </a:spcBef>
              <a:buNone/>
            </a:pPr>
            <a:r>
              <a:rPr sz="1800" b="0" i="0"/>
              <a:t>The records go into the shared window class. When it's time to publish a batch, the collector formats that batch as JSON and passes it to the publisher, which sends it to LDMS.</a:t>
            </a:r>
          </a:p>
          <a:p>
            <a:pPr marL="0" lvl="0" indent="0" algn="l">
              <a:lnSpc>
                <a:spcPct val="110000"/>
              </a:lnSpc>
              <a:spcBef>
                <a:spcPts val="0"/>
              </a:spcBef>
              <a:buNone/>
            </a:pPr>
            <a:endParaRPr/>
          </a:p>
          <a:p>
            <a:pPr marL="0" lvl="0" indent="0" algn="l">
              <a:lnSpc>
                <a:spcPct val="110000"/>
              </a:lnSpc>
              <a:spcBef>
                <a:spcPts val="0"/>
              </a:spcBef>
              <a:buNone/>
            </a:pPr>
            <a:r>
              <a:rPr sz="1800" b="0" i="0"/>
              <a:t>The LDMS plugin runs in a separate process. It receives the messages and places the records into LDMS data sets. The aggregator then writes the records to CSV files.</a:t>
            </a:r>
          </a:p>
          <a:p>
            <a:pPr marL="0" lvl="0" indent="0" algn="l">
              <a:lnSpc>
                <a:spcPct val="110000"/>
              </a:lnSpc>
              <a:spcBef>
                <a:spcPts val="0"/>
              </a:spcBef>
              <a:buNone/>
            </a:pPr>
            <a:endParaRPr sz="1800" b="0" i="0"/>
          </a:p>
          <a:p>
            <a:pPr marL="0" lvl="0" indent="0" algn="l">
              <a:lnSpc>
                <a:spcPct val="110000"/>
              </a:lnSpc>
              <a:spcBef>
                <a:spcPts val="0"/>
              </a:spcBef>
              <a:buNone/>
            </a:pPr>
            <a:r>
              <a:rPr sz="1800" b="0" i="0"/>
              <a:t>The main tool manages startup, shutdown, and the publication timer. This lets the collection code focus on reading and decoding its own type of data, while the shared pieces handle buffering and delivery.</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10000"/>
              </a:lnSpc>
              <a:spcBef>
                <a:spcPts val="0"/>
              </a:spcBef>
              <a:buNone/>
            </a:pPr>
            <a:r>
              <a:rPr sz="1800" b="0" i="0"/>
              <a:t>The shared tool uses one INI-style configuration file. The bracketed sections group the settings for the tool, LDMS, and each collection mode. Within those sections, I can enable a mode, select counters, and set the sampling interval.</a:t>
            </a:r>
          </a:p>
          <a:p>
            <a:pPr marL="0" lvl="0" indent="0" algn="l">
              <a:lnSpc>
                <a:spcPct val="110000"/>
              </a:lnSpc>
              <a:spcBef>
                <a:spcPts val="0"/>
              </a:spcBef>
              <a:buNone/>
            </a:pPr>
            <a:endParaRPr/>
          </a:p>
          <a:p>
            <a:pPr marL="0" lvl="0" indent="0" algn="l">
              <a:lnSpc>
                <a:spcPct val="110000"/>
              </a:lnSpc>
              <a:spcBef>
                <a:spcPts val="0"/>
              </a:spcBef>
              <a:buNone/>
            </a:pPr>
            <a:r>
              <a:rPr sz="1800" b="0" i="0"/>
              <a:t>Instead of putting those collection settings into several environment variables, I point ROCM_LDMS_CONFIG at the file. I still need ROCP_TOOL_LIBRARIES to load the profiling library, and PC sampling has its own SDK enable flag, but the collection settings now live together in one place.</a:t>
            </a:r>
          </a:p>
          <a:p>
            <a:pPr marL="0" lvl="0" indent="0" algn="l">
              <a:lnSpc>
                <a:spcPct val="110000"/>
              </a:lnSpc>
              <a:spcBef>
                <a:spcPts val="0"/>
              </a:spcBef>
              <a:buNone/>
            </a:pPr>
            <a:endParaRPr/>
          </a:p>
          <a:p>
            <a:pPr marL="0" lvl="0" indent="0" algn="l">
              <a:lnSpc>
                <a:spcPct val="110000"/>
              </a:lnSpc>
              <a:spcBef>
                <a:spcPts val="0"/>
              </a:spcBef>
              <a:buNone/>
            </a:pPr>
            <a:r>
              <a:rPr sz="1800" b="0" i="0"/>
              <a:t>In this example, device counters are read every 200 milliseconds, while the tool publishes a batch every second. Those are separate timing settings.</a:t>
            </a:r>
          </a:p>
          <a:p>
            <a:pPr marL="0" lvl="0" indent="0" algn="l">
              <a:lnSpc>
                <a:spcPct val="110000"/>
              </a:lnSpc>
              <a:spcBef>
                <a:spcPts val="0"/>
              </a:spcBef>
              <a:buNone/>
            </a:pPr>
            <a:endParaRPr sz="1800" b="0" i="0"/>
          </a:p>
          <a:p>
            <a:pPr marL="0" lvl="0" indent="0" algn="l">
              <a:lnSpc>
                <a:spcPct val="110000"/>
              </a:lnSpc>
              <a:spcBef>
                <a:spcPts val="0"/>
              </a:spcBef>
              <a:buNone/>
            </a:pPr>
            <a:r>
              <a:rPr sz="1800" b="0" i="0"/>
              <a:t>The current tool allows either PC sampling or device counting, and tracing can run with either one. The device output options also let me compare the cost of collection, formatting JSON, and sending through LDMS as I develop the performance tests.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10000"/>
              </a:lnSpc>
              <a:spcBef>
                <a:spcPts val="0"/>
              </a:spcBef>
              <a:buNone/>
            </a:pPr>
            <a:r>
              <a:rPr sz="1800" b="0" i="0"/>
              <a:t>I also created a shared window class so each collector can buffer records in the same way. As records arrive, add stores them in the active vector.</a:t>
            </a:r>
          </a:p>
          <a:p>
            <a:pPr marL="0" lvl="0" indent="0" algn="l">
              <a:lnSpc>
                <a:spcPct val="110000"/>
              </a:lnSpc>
              <a:spcBef>
                <a:spcPts val="0"/>
              </a:spcBef>
              <a:buNone/>
            </a:pPr>
            <a:endParaRPr/>
          </a:p>
          <a:p>
            <a:pPr marL="0" lvl="0" indent="0" algn="l">
              <a:lnSpc>
                <a:spcPct val="110000"/>
              </a:lnSpc>
              <a:spcBef>
                <a:spcPts val="0"/>
              </a:spcBef>
              <a:buNone/>
            </a:pPr>
            <a:r>
              <a:rPr sz="1800" b="0" i="0"/>
              <a:t>The timer in the main tool decides when to publish. At that point, rotate swaps the active record vector into a snapshot and leaves an empty vector ready for new records. This transfers the batch without copying every record individually.</a:t>
            </a:r>
          </a:p>
          <a:p>
            <a:pPr marL="0" lvl="0" indent="0" algn="l">
              <a:lnSpc>
                <a:spcPct val="110000"/>
              </a:lnSpc>
              <a:spcBef>
                <a:spcPts val="0"/>
              </a:spcBef>
              <a:buNone/>
            </a:pPr>
            <a:endParaRPr/>
          </a:p>
          <a:p>
            <a:pPr marL="0" lvl="0" indent="0" algn="l">
              <a:lnSpc>
                <a:spcPct val="110000"/>
              </a:lnSpc>
              <a:spcBef>
                <a:spcPts val="0"/>
              </a:spcBef>
              <a:buNone/>
            </a:pPr>
            <a:r>
              <a:rPr sz="1800" b="0" i="0"/>
              <a:t>Adding and rotating use the same lock so they can't change the vector at the same time. Once the swap is done, the lock is released. The collector can then format the snapshot as JSON and send it while new records go into the next window.</a:t>
            </a:r>
          </a:p>
          <a:p>
            <a:pPr marL="0" lvl="0" indent="0" algn="l">
              <a:lnSpc>
                <a:spcPct val="110000"/>
              </a:lnSpc>
              <a:spcBef>
                <a:spcPts val="0"/>
              </a:spcBef>
              <a:buNone/>
            </a:pPr>
            <a:endParaRPr sz="1800" b="0" i="0"/>
          </a:p>
          <a:p>
            <a:pPr marL="0" lvl="0" indent="0" algn="l">
              <a:lnSpc>
                <a:spcPct val="110000"/>
              </a:lnSpc>
              <a:spcBef>
                <a:spcPts val="0"/>
              </a:spcBef>
              <a:buNone/>
            </a:pPr>
            <a:r>
              <a:rPr sz="1800" b="0" i="0"/>
              <a:t>One detail is that the time on an individual record and the time on the window have different meanings. The record describes when the observation happened. The window describes the batch, and SDK buffering can delay when an older record reaches that batch.</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10000"/>
              </a:lnSpc>
              <a:spcBef>
                <a:spcPts val="0"/>
              </a:spcBef>
              <a:buNone/>
            </a:pPr>
            <a:r>
              <a:rPr sz="1800" b="0" i="0"/>
              <a:t>I'm also developing repeatable tests to measure the cost of running the profiler. The basic comparison is to run the same amount of work with profiling off and then with profiling on, and record the difference in runtime.</a:t>
            </a:r>
          </a:p>
          <a:p>
            <a:pPr marL="0" lvl="0" indent="0" algn="l">
              <a:lnSpc>
                <a:spcPct val="110000"/>
              </a:lnSpc>
              <a:spcBef>
                <a:spcPts val="0"/>
              </a:spcBef>
              <a:buNone/>
            </a:pPr>
            <a:endParaRPr/>
          </a:p>
          <a:p>
            <a:pPr marL="0" lvl="0" indent="0" algn="l">
              <a:lnSpc>
                <a:spcPct val="110000"/>
              </a:lnSpc>
              <a:spcBef>
                <a:spcPts val="0"/>
              </a:spcBef>
              <a:buNone/>
            </a:pPr>
            <a:r>
              <a:rPr sz="1800" b="0" i="0"/>
              <a:t>The scripts save the commands, configuration, logs, and results so I can repeat a test and understand what happened. I'm extending this to longer workloads and different sampling intervals, and checking CPU and memory use as well as whether the collected data arrives correctly.</a:t>
            </a:r>
          </a:p>
          <a:p>
            <a:pPr marL="0" lvl="0" indent="0" algn="l">
              <a:lnSpc>
                <a:spcPct val="110000"/>
              </a:lnSpc>
              <a:spcBef>
                <a:spcPts val="0"/>
              </a:spcBef>
              <a:buNone/>
            </a:pPr>
            <a:endParaRPr/>
          </a:p>
          <a:p>
            <a:pPr marL="0" lvl="0" indent="0" algn="l">
              <a:lnSpc>
                <a:spcPct val="110000"/>
              </a:lnSpc>
              <a:spcBef>
                <a:spcPts val="0"/>
              </a:spcBef>
              <a:buNone/>
            </a:pPr>
            <a:r>
              <a:rPr sz="1800" b="0" i="0"/>
              <a:t>This is still in progress. I have the initial scripts and some early diagnostic runs, but I haven't completed the larger overhead study or established reliable overhead numbers for real workloads.</a:t>
            </a:r>
          </a:p>
          <a:p>
            <a:pPr marL="0" lvl="0" indent="0" algn="l">
              <a:lnSpc>
                <a:spcPct val="110000"/>
              </a:lnSpc>
              <a:spcBef>
                <a:spcPts val="0"/>
              </a:spcBef>
              <a:buNone/>
            </a:pPr>
            <a:endParaRPr sz="1800" b="0" i="0"/>
          </a:p>
          <a:p>
            <a:pPr marL="0" lvl="0" indent="0" algn="l">
              <a:lnSpc>
                <a:spcPct val="110000"/>
              </a:lnSpc>
              <a:spcBef>
                <a:spcPts val="0"/>
              </a:spcBef>
              <a:buNone/>
            </a:pPr>
            <a:r>
              <a:rPr sz="1800" b="0" i="0"/>
              <a:t>Continuous PC sampling is also something I want to test explicitly. Results from device counters alone won't tell us what it costs to keep PC sampling active.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10000"/>
              </a:lnSpc>
              <a:spcBef>
                <a:spcPts val="0"/>
              </a:spcBef>
              <a:buNone/>
            </a:pPr>
            <a:r>
              <a:rPr sz="1800" b="0" i="0" dirty="0"/>
              <a:t>Alongside that, I've been reading about jobs sharing a GPU and how workload measurements could help inform scheduling. KACE and PEACE are two of the papers informing the direction I'm exploring.</a:t>
            </a:r>
          </a:p>
          <a:p>
            <a:pPr marL="0" lvl="0" indent="0" algn="l">
              <a:lnSpc>
                <a:spcPct val="110000"/>
              </a:lnSpc>
              <a:spcBef>
                <a:spcPts val="0"/>
              </a:spcBef>
              <a:buNone/>
            </a:pPr>
            <a:endParaRPr dirty="0"/>
          </a:p>
          <a:p>
            <a:pPr marL="0" lvl="0" indent="0" algn="l">
              <a:lnSpc>
                <a:spcPct val="110000"/>
              </a:lnSpc>
              <a:spcBef>
                <a:spcPts val="0"/>
              </a:spcBef>
              <a:buNone/>
            </a:pPr>
            <a:r>
              <a:rPr sz="1800" b="0" i="0" dirty="0"/>
              <a:t>The idea is to start by profiling workloads individually. I'd begin with controlled memory and compute workloads, then add scientific applications. I'd look at candidate measurements such as GPU activity, instruction mix, cache behavior, and kernel timing.</a:t>
            </a:r>
          </a:p>
          <a:p>
            <a:pPr marL="0" lvl="0" indent="0" algn="l">
              <a:lnSpc>
                <a:spcPct val="110000"/>
              </a:lnSpc>
              <a:spcBef>
                <a:spcPts val="0"/>
              </a:spcBef>
              <a:buNone/>
            </a:pPr>
            <a:endParaRPr sz="1800" b="0" i="0" dirty="0"/>
          </a:p>
          <a:p>
            <a:pPr marL="0" lvl="0" indent="0" algn="l">
              <a:lnSpc>
                <a:spcPct val="110000"/>
              </a:lnSpc>
              <a:spcBef>
                <a:spcPts val="0"/>
              </a:spcBef>
              <a:buNone/>
            </a:pPr>
            <a:r>
              <a:rPr sz="1800" b="0" i="0" dirty="0"/>
              <a:t>Then I'd run selected jobs alone and together, without profiling, to measure how much they slow each other down. That would let me test whether the profiles collected earlier help explain or predict the slowdown.</a:t>
            </a:r>
            <a:endParaRPr dirty="0"/>
          </a:p>
          <a:p>
            <a:pPr marL="0" lvl="0" indent="0" algn="l">
              <a:lnSpc>
                <a:spcPct val="110000"/>
              </a:lnSpc>
              <a:spcBef>
                <a:spcPts val="0"/>
              </a:spcBef>
              <a:buNone/>
            </a:pPr>
            <a:endParaRPr dirty="0"/>
          </a:p>
          <a:p>
            <a:pPr marL="0" lvl="0" indent="0" algn="l">
              <a:lnSpc>
                <a:spcPct val="110000"/>
              </a:lnSpc>
              <a:spcBef>
                <a:spcPts val="0"/>
              </a:spcBef>
              <a:buNone/>
            </a:pPr>
            <a:r>
              <a:rPr sz="1800" b="0" i="0" dirty="0"/>
              <a:t>This is a study plan at this point. I'd like to know whether AMD is working on similar workload characterization or sharing studies, and what you would recommend for structuring this work.</a:t>
            </a:r>
          </a:p>
          <a:p>
            <a:pPr marL="0" lvl="0" indent="0" algn="l">
              <a:lnSpc>
                <a:spcPct val="110000"/>
              </a:lnSpc>
              <a:spcBef>
                <a:spcPts val="0"/>
              </a:spcBef>
              <a:buNone/>
            </a:pPr>
            <a:endParaRPr sz="1800" b="0" i="0" dirty="0"/>
          </a:p>
          <a:p>
            <a:pPr marL="0" lvl="0" indent="0" algn="l">
              <a:lnSpc>
                <a:spcPct val="110000"/>
              </a:lnSpc>
              <a:spcBef>
                <a:spcPts val="0"/>
              </a:spcBef>
              <a:buNone/>
            </a:pPr>
            <a:r>
              <a:rPr sz="1100" b="0" i="0" dirty="0"/>
              <a:t>https://www3.cs.stonybrook.edu/~anshul/socc24_kace.pdf</a:t>
            </a:r>
          </a:p>
          <a:p>
            <a:pPr marL="0" lvl="0" indent="0" algn="l">
              <a:lnSpc>
                <a:spcPct val="110000"/>
              </a:lnSpc>
              <a:spcBef>
                <a:spcPts val="0"/>
              </a:spcBef>
              <a:buNone/>
            </a:pPr>
            <a:r>
              <a:rPr sz="1100" b="0" i="0" dirty="0"/>
              <a:t>https://www3.cs.stonybrook.edu/~anshul/socc26_peace.pdf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10000"/>
              </a:lnSpc>
              <a:spcBef>
                <a:spcPts val="0"/>
              </a:spcBef>
              <a:buNone/>
            </a:pPr>
            <a:r>
              <a:rPr sz="1800" b="0" i="0" dirty="0"/>
              <a:t>The main question I'd like your input on is how you would structure the workload characterization study so that the measurements could eventually be useful for scheduling. Are there workloads, counters, or ways of testing shared execution that you would recommend starting with?</a:t>
            </a:r>
          </a:p>
          <a:p>
            <a:pPr marL="0" lvl="0" indent="0" algn="l">
              <a:lnSpc>
                <a:spcPct val="110000"/>
              </a:lnSpc>
              <a:spcBef>
                <a:spcPts val="0"/>
              </a:spcBef>
              <a:buNone/>
            </a:pPr>
            <a:endParaRPr dirty="0"/>
          </a:p>
          <a:p>
            <a:pPr marL="0" lvl="0" indent="0" algn="l">
              <a:lnSpc>
                <a:spcPct val="110000"/>
              </a:lnSpc>
              <a:spcBef>
                <a:spcPts val="0"/>
              </a:spcBef>
              <a:buNone/>
            </a:pPr>
            <a:r>
              <a:rPr sz="1800" b="0" i="0" dirty="0"/>
              <a:t>I'd also appreciate your feedback on the tool structure. Does keeping the collectors separate within one configurable tool, with shared buffering and delivery, make sense for this work? Is there anything you would change before I build further on it?</a:t>
            </a:r>
          </a:p>
          <a:p>
            <a:pPr marL="0" lvl="0" indent="0" algn="l">
              <a:lnSpc>
                <a:spcPct val="110000"/>
              </a:lnSpc>
              <a:spcBef>
                <a:spcPts val="0"/>
              </a:spcBef>
              <a:buNone/>
            </a:pPr>
            <a:endParaRPr dirty="0"/>
          </a:p>
          <a:p>
            <a:pPr marL="0" lvl="0" indent="0" algn="l">
              <a:lnSpc>
                <a:spcPct val="110000"/>
              </a:lnSpc>
              <a:spcBef>
                <a:spcPts val="0"/>
              </a:spcBef>
              <a:buNone/>
            </a:pPr>
            <a:r>
              <a:rPr sz="1800" b="0" i="0" dirty="0"/>
              <a:t>And for the overhead study, are there known performance or stability concerns with keeping PC sampling active over long runs on your systems? That would help me decide which conditions to test first.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buNone/>
              <a:defRPr sz="6000"/>
            </a:lvl1pPr>
          </a:lstStyle>
          <a:p>
            <a:r>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213811"/>
            <a:ext cx="2595934" cy="3780589"/>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idx="12"/>
          </p:nvPr>
        </p:nvSpPr>
        <p:spPr>
          <a:xfrm>
            <a:off x="3334966"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2213811"/>
            <a:ext cx="2595934" cy="3780589"/>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idx="14"/>
          </p:nvPr>
        </p:nvSpPr>
        <p:spPr>
          <a:xfrm>
            <a:off x="9205679"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defTabSz="914400">
        <a:lnSpc>
          <a:spcPct val="90000"/>
        </a:lnSpc>
        <a:spcBef>
          <a:spcPct val="0"/>
        </a:spcBef>
        <a:buNone/>
        <a:defRPr sz="29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91E"/>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AF0A1218-75FC-4FE6-8147-3FB21B3860A9}"/>
              </a:ext>
            </a:extLst>
          </p:cNvPr>
          <p:cNvSpPr>
            <a:spLocks noGrp="1"/>
          </p:cNvSpPr>
          <p:nvPr/>
        </p:nvSpPr>
        <p:spPr>
          <a:xfrm>
            <a:off x="11144250" y="6362700"/>
            <a:ext cx="523875" cy="209550"/>
          </a:xfrm>
          <a:prstGeom prst="rect">
            <a:avLst/>
          </a:prstGeom>
          <a:noFill/>
          <a:ln w="0">
            <a:noFill/>
          </a:ln>
        </p:spPr>
        <p:txBody>
          <a:bodyPr wrap="square" lIns="0" tIns="0" rIns="0" bIns="0" anchor="t">
            <a:noAutofit/>
          </a:bodyPr>
          <a:lstStyle/>
          <a:p>
            <a:pPr marL="0" indent="0" algn="r">
              <a:lnSpc>
                <a:spcPct val="110000"/>
              </a:lnSpc>
              <a:spcBef>
                <a:spcPts val="0"/>
              </a:spcBef>
              <a:spcAft>
                <a:spcPts val="0"/>
              </a:spcAft>
              <a:buNone/>
              <a:defRPr sz="1125" b="0">
                <a:solidFill>
                  <a:srgbClr val="BFC2CA"/>
                </a:solidFill>
                <a:latin typeface="Helvetica Neue"/>
                <a:ea typeface="Helvetica Neue"/>
                <a:cs typeface="Helvetica Neue"/>
              </a:defRPr>
            </a:pPr>
            <a:r>
              <a:rPr sz="1125" b="0">
                <a:solidFill>
                  <a:srgbClr val="BFC2CA"/>
                </a:solidFill>
                <a:latin typeface="Helvetica Neue"/>
                <a:ea typeface="Helvetica Neue"/>
                <a:cs typeface="Helvetica Neue"/>
              </a:rPr>
              <a:t>01</a:t>
            </a:r>
          </a:p>
        </p:txBody>
      </p:sp>
      <p:sp>
        <p:nvSpPr>
          <p:cNvPr id="2" name="text-1">
            <a:extLst>
              <a:ext uri="{FF2B5EF4-FFF2-40B4-BE49-F238E27FC236}">
                <a16:creationId xmlns:a16="http://schemas.microsoft.com/office/drawing/2014/main" id="{8C98C53F-538B-4980-B761-68677F3C60A7}"/>
              </a:ext>
            </a:extLst>
          </p:cNvPr>
          <p:cNvSpPr>
            <a:spLocks noGrp="1"/>
          </p:cNvSpPr>
          <p:nvPr/>
        </p:nvSpPr>
        <p:spPr>
          <a:xfrm>
            <a:off x="552450" y="1809750"/>
            <a:ext cx="11049000" cy="10953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6750" b="1">
                <a:solidFill>
                  <a:srgbClr val="FFFFFF"/>
                </a:solidFill>
                <a:latin typeface="Helvetica Neue"/>
                <a:ea typeface="Helvetica Neue"/>
                <a:cs typeface="Helvetica Neue"/>
              </a:defRPr>
            </a:pPr>
            <a:r>
              <a:rPr sz="6750" b="1" dirty="0" err="1">
                <a:solidFill>
                  <a:srgbClr val="FFFFFF"/>
                </a:solidFill>
                <a:latin typeface="Helvetica Neue"/>
                <a:ea typeface="Helvetica Neue"/>
                <a:cs typeface="Helvetica Neue"/>
              </a:rPr>
              <a:t>ROCProfiler</a:t>
            </a:r>
            <a:r>
              <a:rPr sz="6750" b="1" dirty="0">
                <a:solidFill>
                  <a:srgbClr val="FFFFFF"/>
                </a:solidFill>
                <a:latin typeface="Helvetica Neue"/>
                <a:ea typeface="Helvetica Neue"/>
                <a:cs typeface="Helvetica Neue"/>
              </a:rPr>
              <a:t> + LDMS</a:t>
            </a:r>
          </a:p>
        </p:txBody>
      </p:sp>
      <p:sp>
        <p:nvSpPr>
          <p:cNvPr id="3" name="text-2">
            <a:extLst>
              <a:ext uri="{FF2B5EF4-FFF2-40B4-BE49-F238E27FC236}">
                <a16:creationId xmlns:a16="http://schemas.microsoft.com/office/drawing/2014/main" id="{9850B108-DD92-4B68-990A-EF51997ACE0D}"/>
              </a:ext>
            </a:extLst>
          </p:cNvPr>
          <p:cNvSpPr>
            <a:spLocks noGrp="1"/>
          </p:cNvSpPr>
          <p:nvPr/>
        </p:nvSpPr>
        <p:spPr>
          <a:xfrm>
            <a:off x="552450" y="3000375"/>
            <a:ext cx="10953750" cy="104775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6750" b="1">
                <a:solidFill>
                  <a:srgbClr val="FF6B72"/>
                </a:solidFill>
                <a:latin typeface="Helvetica Neue"/>
                <a:ea typeface="Helvetica Neue"/>
                <a:cs typeface="Helvetica Neue"/>
              </a:defRPr>
            </a:pPr>
            <a:r>
              <a:rPr sz="6750" b="1">
                <a:solidFill>
                  <a:srgbClr val="FF6B72"/>
                </a:solidFill>
                <a:latin typeface="Helvetica Neue"/>
                <a:ea typeface="Helvetica Neue"/>
                <a:cs typeface="Helvetica Neue"/>
              </a:rPr>
              <a:t>Tool rework</a:t>
            </a:r>
          </a:p>
        </p:txBody>
      </p:sp>
      <p:sp>
        <p:nvSpPr>
          <p:cNvPr id="4" name="text-3">
            <a:extLst>
              <a:ext uri="{FF2B5EF4-FFF2-40B4-BE49-F238E27FC236}">
                <a16:creationId xmlns:a16="http://schemas.microsoft.com/office/drawing/2014/main" id="{4824ABD4-7BA5-4C9E-97AE-1040BF9B4047}"/>
              </a:ext>
            </a:extLst>
          </p:cNvPr>
          <p:cNvSpPr>
            <a:spLocks noGrp="1"/>
          </p:cNvSpPr>
          <p:nvPr/>
        </p:nvSpPr>
        <p:spPr>
          <a:xfrm>
            <a:off x="590550" y="4638675"/>
            <a:ext cx="10477500" cy="59055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400" b="0">
                <a:solidFill>
                  <a:srgbClr val="FFFFFF"/>
                </a:solidFill>
                <a:latin typeface="Helvetica Neue"/>
                <a:ea typeface="Helvetica Neue"/>
                <a:cs typeface="Helvetica Neue"/>
              </a:defRPr>
            </a:pPr>
            <a:r>
              <a:rPr sz="2400" b="0" dirty="0">
                <a:solidFill>
                  <a:srgbClr val="FFFFFF"/>
                </a:solidFill>
                <a:latin typeface="Helvetica Neue"/>
                <a:ea typeface="Helvetica Neue"/>
                <a:cs typeface="Helvetica Neue"/>
              </a:rPr>
              <a:t>Implementation update and next experiments</a:t>
            </a:r>
          </a:p>
        </p:txBody>
      </p:sp>
      <p:sp>
        <p:nvSpPr>
          <p:cNvPr id="5" name="text-4">
            <a:extLst>
              <a:ext uri="{FF2B5EF4-FFF2-40B4-BE49-F238E27FC236}">
                <a16:creationId xmlns:a16="http://schemas.microsoft.com/office/drawing/2014/main" id="{D9CC5617-07B3-4C24-863A-D413BBDBA6CF}"/>
              </a:ext>
            </a:extLst>
          </p:cNvPr>
          <p:cNvSpPr>
            <a:spLocks noGrp="1"/>
          </p:cNvSpPr>
          <p:nvPr/>
        </p:nvSpPr>
        <p:spPr>
          <a:xfrm>
            <a:off x="590550" y="523875"/>
            <a:ext cx="7620000" cy="6858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950" b="0">
                <a:solidFill>
                  <a:srgbClr val="BFC2CA"/>
                </a:solidFill>
                <a:latin typeface="Helvetica Neue"/>
                <a:ea typeface="Helvetica Neue"/>
                <a:cs typeface="Helvetica Neue"/>
              </a:defRPr>
            </a:pPr>
            <a:r>
              <a:rPr sz="1950" b="0" dirty="0">
                <a:solidFill>
                  <a:srgbClr val="BFC2CA"/>
                </a:solidFill>
                <a:latin typeface="Helvetica Neue"/>
                <a:ea typeface="Helvetica Neue"/>
                <a:cs typeface="Helvetica Neue"/>
              </a:rPr>
              <a:t>AMD technical meeting</a:t>
            </a:r>
          </a:p>
          <a:p>
            <a:pPr marL="0" indent="0" algn="l">
              <a:lnSpc>
                <a:spcPct val="110000"/>
              </a:lnSpc>
              <a:spcBef>
                <a:spcPts val="0"/>
              </a:spcBef>
              <a:spcAft>
                <a:spcPts val="0"/>
              </a:spcAft>
              <a:buNone/>
              <a:defRPr sz="1950" b="0">
                <a:solidFill>
                  <a:srgbClr val="BFC2CA"/>
                </a:solidFill>
                <a:latin typeface="Helvetica Neue"/>
                <a:ea typeface="Helvetica Neue"/>
                <a:cs typeface="Helvetica Neue"/>
              </a:defRPr>
            </a:pPr>
            <a:r>
              <a:rPr sz="1950" b="0" dirty="0">
                <a:solidFill>
                  <a:srgbClr val="BFC2CA"/>
                </a:solidFill>
                <a:latin typeface="Helvetica Neue"/>
                <a:ea typeface="Helvetica Neue"/>
                <a:cs typeface="Helvetica Neue"/>
              </a:rPr>
              <a:t>September 2026</a:t>
            </a:r>
          </a:p>
        </p:txBody>
      </p:sp>
      <p:sp>
        <p:nvSpPr>
          <p:cNvPr id="6" name="text-5">
            <a:extLst>
              <a:ext uri="{FF2B5EF4-FFF2-40B4-BE49-F238E27FC236}">
                <a16:creationId xmlns:a16="http://schemas.microsoft.com/office/drawing/2014/main" id="{6B80C087-F71B-46D4-9CF5-EC79F6E9CAB2}"/>
              </a:ext>
            </a:extLst>
          </p:cNvPr>
          <p:cNvSpPr>
            <a:spLocks noGrp="1"/>
          </p:cNvSpPr>
          <p:nvPr/>
        </p:nvSpPr>
        <p:spPr>
          <a:xfrm>
            <a:off x="590550" y="5876925"/>
            <a:ext cx="9525000" cy="40005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950" b="0">
                <a:solidFill>
                  <a:srgbClr val="BFC2CA"/>
                </a:solidFill>
                <a:latin typeface="Helvetica Neue"/>
                <a:ea typeface="Helvetica Neue"/>
                <a:cs typeface="Helvetica Neue"/>
              </a:defRPr>
            </a:pPr>
            <a:r>
              <a:rPr lang="en-US" sz="1950" b="0" dirty="0">
                <a:solidFill>
                  <a:srgbClr val="BFC2CA"/>
                </a:solidFill>
                <a:latin typeface="Helvetica Neue"/>
                <a:ea typeface="Helvetica Neue"/>
                <a:cs typeface="Helvetica Neue"/>
              </a:rPr>
              <a:t>Ryan Nadanam</a:t>
            </a:r>
            <a:endParaRPr sz="1950" b="0" dirty="0">
              <a:solidFill>
                <a:srgbClr val="BFC2CA"/>
              </a:solidFill>
              <a:latin typeface="Helvetica Neue"/>
              <a:ea typeface="Helvetica Neue"/>
              <a:cs typeface="Helvetica Neue"/>
            </a:endParaRPr>
          </a:p>
        </p:txBody>
      </p:sp>
    </p:spTree>
    <p:extLst>
      <p:ext uri="{BB962C8B-B14F-4D97-AF65-F5344CB8AC3E}">
        <p14:creationId xmlns:p14="http://schemas.microsoft.com/office/powerpoint/2010/main" val="3667182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9635D7-A867-45F7-9499-9A96750CD41A}"/>
              </a:ext>
            </a:extLst>
          </p:cNvPr>
          <p:cNvSpPr>
            <a:spLocks noGrp="1"/>
          </p:cNvSpPr>
          <p:nvPr/>
        </p:nvSpPr>
        <p:spPr>
          <a:xfrm>
            <a:off x="514350" y="419100"/>
            <a:ext cx="11163300" cy="1000125"/>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3450" b="1">
                <a:solidFill>
                  <a:srgbClr val="202126"/>
                </a:solidFill>
                <a:latin typeface="Helvetica Neue"/>
                <a:ea typeface="Helvetica Neue"/>
                <a:cs typeface="Helvetica Neue"/>
              </a:defRPr>
            </a:pPr>
            <a:r>
              <a:rPr sz="3450" b="1">
                <a:solidFill>
                  <a:srgbClr val="202126"/>
                </a:solidFill>
                <a:latin typeface="Helvetica Neue"/>
                <a:ea typeface="Helvetica Neue"/>
                <a:cs typeface="Helvetica Neue"/>
              </a:rPr>
              <a:t>File structure before and after the rework</a:t>
            </a:r>
          </a:p>
        </p:txBody>
      </p:sp>
      <p:sp>
        <p:nvSpPr>
          <p:cNvPr id="2" name="Rectangle 1">
            <a:extLst>
              <a:ext uri="{FF2B5EF4-FFF2-40B4-BE49-F238E27FC236}">
                <a16:creationId xmlns:a16="http://schemas.microsoft.com/office/drawing/2014/main" id="{F1E5F25C-D253-45F5-BA60-04443990E39D}"/>
              </a:ext>
            </a:extLst>
          </p:cNvPr>
          <p:cNvSpPr>
            <a:spLocks noGrp="1"/>
          </p:cNvSpPr>
          <p:nvPr/>
        </p:nvSpPr>
        <p:spPr>
          <a:xfrm>
            <a:off x="533400" y="1514475"/>
            <a:ext cx="5276850" cy="45720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175" b="1">
                <a:solidFill>
                  <a:srgbClr val="60616A"/>
                </a:solidFill>
                <a:latin typeface="Helvetica Neue"/>
                <a:ea typeface="Helvetica Neue"/>
                <a:cs typeface="Helvetica Neue"/>
              </a:defRPr>
            </a:pPr>
            <a:r>
              <a:rPr sz="2175" b="1" dirty="0">
                <a:solidFill>
                  <a:srgbClr val="60616A"/>
                </a:solidFill>
                <a:latin typeface="Helvetica Neue"/>
                <a:ea typeface="Helvetica Neue"/>
                <a:cs typeface="Helvetica Neue"/>
              </a:rPr>
              <a:t>Earlier check</a:t>
            </a:r>
            <a:r>
              <a:rPr lang="en-US" sz="2175" b="1" dirty="0">
                <a:solidFill>
                  <a:srgbClr val="60616A"/>
                </a:solidFill>
                <a:latin typeface="Helvetica Neue"/>
                <a:ea typeface="Helvetica Neue"/>
                <a:cs typeface="Helvetica Neue"/>
              </a:rPr>
              <a:t>point</a:t>
            </a:r>
            <a:endParaRPr sz="2175" b="1" dirty="0">
              <a:solidFill>
                <a:srgbClr val="60616A"/>
              </a:solidFill>
              <a:latin typeface="Helvetica Neue"/>
              <a:ea typeface="Helvetica Neue"/>
              <a:cs typeface="Helvetica Neue"/>
            </a:endParaRPr>
          </a:p>
        </p:txBody>
      </p:sp>
      <p:sp>
        <p:nvSpPr>
          <p:cNvPr id="3" name="Rectangle 2">
            <a:extLst>
              <a:ext uri="{FF2B5EF4-FFF2-40B4-BE49-F238E27FC236}">
                <a16:creationId xmlns:a16="http://schemas.microsoft.com/office/drawing/2014/main" id="{4F623B6B-E45D-492E-9CA5-A4C7C1DE2412}"/>
              </a:ext>
            </a:extLst>
          </p:cNvPr>
          <p:cNvSpPr>
            <a:spLocks noGrp="1"/>
          </p:cNvSpPr>
          <p:nvPr/>
        </p:nvSpPr>
        <p:spPr>
          <a:xfrm>
            <a:off x="6267450" y="1514475"/>
            <a:ext cx="5410200" cy="45720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175" b="1">
                <a:solidFill>
                  <a:srgbClr val="C52F40"/>
                </a:solidFill>
                <a:latin typeface="Helvetica Neue"/>
                <a:ea typeface="Helvetica Neue"/>
                <a:cs typeface="Helvetica Neue"/>
              </a:defRPr>
            </a:pPr>
            <a:r>
              <a:rPr sz="2175" b="1">
                <a:solidFill>
                  <a:srgbClr val="C52F40"/>
                </a:solidFill>
                <a:latin typeface="Helvetica Neue"/>
                <a:ea typeface="Helvetica Neue"/>
                <a:cs typeface="Helvetica Neue"/>
              </a:rPr>
              <a:t>Current tool</a:t>
            </a:r>
          </a:p>
        </p:txBody>
      </p:sp>
      <p:sp>
        <p:nvSpPr>
          <p:cNvPr id="4" name="Rectangle 3">
            <a:extLst>
              <a:ext uri="{FF2B5EF4-FFF2-40B4-BE49-F238E27FC236}">
                <a16:creationId xmlns:a16="http://schemas.microsoft.com/office/drawing/2014/main" id="{618D8ADF-870C-43A2-9D94-0E1054D4D23B}"/>
              </a:ext>
            </a:extLst>
          </p:cNvPr>
          <p:cNvSpPr>
            <a:spLocks noGrp="1"/>
          </p:cNvSpPr>
          <p:nvPr/>
        </p:nvSpPr>
        <p:spPr>
          <a:xfrm>
            <a:off x="533400" y="2085975"/>
            <a:ext cx="5276850" cy="3886200"/>
          </a:xfrm>
          <a:prstGeom prst="rect">
            <a:avLst/>
          </a:prstGeom>
          <a:noFill/>
          <a:ln w="0">
            <a:noFill/>
          </a:ln>
        </p:spPr>
        <p:txBody>
          <a:bodyPr wrap="square" lIns="0" tIns="0" rIns="0" bIns="0" anchor="t">
            <a:noAutofit/>
          </a:bodyPr>
          <a:lstStyle/>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ldms-rocm-gpu-sampler/</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application/</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src/</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tool.cpp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config.cpp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raw_output.cpp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reducer.cpp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pc_sampler/</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tool.cpp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csv_pc_sampler/</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tool.cpp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tool.cpp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rocp_bridge.cpp</a:t>
            </a:r>
          </a:p>
        </p:txBody>
      </p:sp>
      <p:sp>
        <p:nvSpPr>
          <p:cNvPr id="5" name="Rectangle 4">
            <a:extLst>
              <a:ext uri="{FF2B5EF4-FFF2-40B4-BE49-F238E27FC236}">
                <a16:creationId xmlns:a16="http://schemas.microsoft.com/office/drawing/2014/main" id="{F60BF1EA-6AAB-409C-A281-42B3429670B8}"/>
              </a:ext>
            </a:extLst>
          </p:cNvPr>
          <p:cNvSpPr>
            <a:spLocks noGrp="1"/>
          </p:cNvSpPr>
          <p:nvPr/>
        </p:nvSpPr>
        <p:spPr>
          <a:xfrm>
            <a:off x="6267450" y="2085975"/>
            <a:ext cx="5410200" cy="3886200"/>
          </a:xfrm>
          <a:prstGeom prst="rect">
            <a:avLst/>
          </a:prstGeom>
          <a:noFill/>
          <a:ln w="0">
            <a:noFill/>
          </a:ln>
        </p:spPr>
        <p:txBody>
          <a:bodyPr wrap="square" lIns="0" tIns="0" rIns="0" bIns="0" anchor="t">
            <a:noAutofit/>
          </a:bodyPr>
          <a:lstStyle/>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rocprof_rework/</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src/</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tool.cpp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config.cpp, publisher.cpp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pc.cpp, device.cpp, trace.cpp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include/</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window.hpp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pc.hpp, device.hpp, trace.hpp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config/rocprofiler.conf</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ldms/rocprof_msg_sampler.cpp</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experiments/</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bench.py, study.py</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persistent.py, analyze.py</a:t>
            </a:r>
          </a:p>
          <a:p>
            <a:pPr marL="0" indent="0">
              <a:lnSpc>
                <a:spcPct val="100000"/>
              </a:lnSpc>
              <a:spcBef>
                <a:spcPts val="0"/>
              </a:spcBef>
              <a:spcAft>
                <a:spcPts val="0"/>
              </a:spcAft>
              <a:buNone/>
              <a:defRPr sz="1800" b="0">
                <a:solidFill>
                  <a:srgbClr val="202126"/>
                </a:solidFill>
                <a:latin typeface="Consolas"/>
                <a:ea typeface="Consolas"/>
                <a:cs typeface="Consolas"/>
              </a:defRPr>
            </a:pPr>
            <a:r>
              <a:rPr sz="1800" b="0">
                <a:solidFill>
                  <a:srgbClr val="202126"/>
                </a:solidFill>
                <a:latin typeface="Consolas"/>
                <a:ea typeface="Consolas"/>
                <a:cs typeface="Consolas"/>
              </a:rPr>
              <a:t>   └─ characterize.py</a:t>
            </a:r>
          </a:p>
        </p:txBody>
      </p:sp>
      <p:sp>
        <p:nvSpPr>
          <p:cNvPr id="6" name="Rectangle 5">
            <a:extLst>
              <a:ext uri="{FF2B5EF4-FFF2-40B4-BE49-F238E27FC236}">
                <a16:creationId xmlns:a16="http://schemas.microsoft.com/office/drawing/2014/main" id="{1041A054-1051-48F6-8F12-B4E56F2500E9}"/>
              </a:ext>
            </a:extLst>
          </p:cNvPr>
          <p:cNvSpPr>
            <a:spLocks noGrp="1"/>
          </p:cNvSpPr>
          <p:nvPr/>
        </p:nvSpPr>
        <p:spPr>
          <a:xfrm>
            <a:off x="533400" y="6172200"/>
            <a:ext cx="10477500" cy="352425"/>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1650" b="0">
                <a:solidFill>
                  <a:srgbClr val="60616A"/>
                </a:solidFill>
                <a:latin typeface="Helvetica Neue"/>
                <a:ea typeface="Helvetica Neue"/>
                <a:cs typeface="Helvetica Neue"/>
              </a:defRPr>
            </a:pPr>
            <a:r>
              <a:rPr sz="1650" b="0">
                <a:solidFill>
                  <a:srgbClr val="60616A"/>
                </a:solidFill>
                <a:latin typeface="Helvetica Neue"/>
                <a:ea typeface="Helvetica Neue"/>
                <a:cs typeface="Helvetica Neue"/>
              </a:rPr>
              <a:t>Selected files shown. Commas separate sibling files in the same directory.</a:t>
            </a:r>
          </a:p>
        </p:txBody>
      </p:sp>
      <p:sp>
        <p:nvSpPr>
          <p:cNvPr id="7" name="Rectangle 6">
            <a:extLst>
              <a:ext uri="{FF2B5EF4-FFF2-40B4-BE49-F238E27FC236}">
                <a16:creationId xmlns:a16="http://schemas.microsoft.com/office/drawing/2014/main" id="{A9C5B6F9-C09A-41D6-94D0-0168678600CE}"/>
              </a:ext>
            </a:extLst>
          </p:cNvPr>
          <p:cNvSpPr>
            <a:spLocks noGrp="1"/>
          </p:cNvSpPr>
          <p:nvPr/>
        </p:nvSpPr>
        <p:spPr>
          <a:xfrm>
            <a:off x="11144250" y="6362700"/>
            <a:ext cx="523875" cy="20955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1125" b="0">
                <a:solidFill>
                  <a:srgbClr val="60616A"/>
                </a:solidFill>
                <a:latin typeface="Helvetica Neue"/>
                <a:ea typeface="Helvetica Neue"/>
                <a:cs typeface="Helvetica Neue"/>
              </a:defRPr>
            </a:pPr>
            <a:r>
              <a:rPr sz="1125" b="0">
                <a:solidFill>
                  <a:srgbClr val="60616A"/>
                </a:solidFill>
                <a:latin typeface="Helvetica Neue"/>
                <a:ea typeface="Helvetica Neue"/>
                <a:cs typeface="Helvetica Neue"/>
              </a:rPr>
              <a:t>02</a:t>
            </a:r>
          </a:p>
        </p:txBody>
      </p:sp>
    </p:spTree>
    <p:extLst>
      <p:ext uri="{BB962C8B-B14F-4D97-AF65-F5344CB8AC3E}">
        <p14:creationId xmlns:p14="http://schemas.microsoft.com/office/powerpoint/2010/main" val="3667182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191E"/>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42A721F2-CCF3-4DB1-818A-1F860A5D1D66}"/>
              </a:ext>
            </a:extLst>
          </p:cNvPr>
          <p:cNvSpPr>
            <a:spLocks noGrp="1"/>
          </p:cNvSpPr>
          <p:nvPr/>
        </p:nvSpPr>
        <p:spPr>
          <a:xfrm>
            <a:off x="514350" y="419100"/>
            <a:ext cx="11163300" cy="10668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Analysis moved out of the collector</a:t>
            </a:r>
          </a:p>
        </p:txBody>
      </p:sp>
      <p:sp>
        <p:nvSpPr>
          <p:cNvPr id="2" name="text-1">
            <a:extLst>
              <a:ext uri="{FF2B5EF4-FFF2-40B4-BE49-F238E27FC236}">
                <a16:creationId xmlns:a16="http://schemas.microsoft.com/office/drawing/2014/main" id="{05B722C1-91A1-416D-92AF-E814C57DB473}"/>
              </a:ext>
            </a:extLst>
          </p:cNvPr>
          <p:cNvSpPr>
            <a:spLocks noGrp="1"/>
          </p:cNvSpPr>
          <p:nvPr/>
        </p:nvSpPr>
        <p:spPr>
          <a:xfrm>
            <a:off x="11144250" y="6362700"/>
            <a:ext cx="523875" cy="209550"/>
          </a:xfrm>
          <a:prstGeom prst="rect">
            <a:avLst/>
          </a:prstGeom>
          <a:noFill/>
          <a:ln w="0">
            <a:noFill/>
          </a:ln>
        </p:spPr>
        <p:txBody>
          <a:bodyPr wrap="square" lIns="0" tIns="0" rIns="0" bIns="0" anchor="t">
            <a:noAutofit/>
          </a:bodyPr>
          <a:lstStyle/>
          <a:p>
            <a:pPr marL="0" indent="0" algn="r">
              <a:lnSpc>
                <a:spcPct val="110000"/>
              </a:lnSpc>
              <a:spcBef>
                <a:spcPts val="0"/>
              </a:spcBef>
              <a:spcAft>
                <a:spcPts val="0"/>
              </a:spcAft>
              <a:buNone/>
              <a:defRPr sz="1125" b="0">
                <a:solidFill>
                  <a:srgbClr val="BFC2CA"/>
                </a:solidFill>
                <a:latin typeface="Helvetica Neue"/>
                <a:ea typeface="Helvetica Neue"/>
                <a:cs typeface="Helvetica Neue"/>
              </a:defRPr>
            </a:pPr>
            <a:r>
              <a:rPr sz="1125" b="0">
                <a:solidFill>
                  <a:srgbClr val="BFC2CA"/>
                </a:solidFill>
                <a:latin typeface="Helvetica Neue"/>
                <a:ea typeface="Helvetica Neue"/>
                <a:cs typeface="Helvetica Neue"/>
              </a:rPr>
              <a:t>03</a:t>
            </a:r>
          </a:p>
        </p:txBody>
      </p:sp>
      <p:sp>
        <p:nvSpPr>
          <p:cNvPr id="3" name="text-2">
            <a:extLst>
              <a:ext uri="{FF2B5EF4-FFF2-40B4-BE49-F238E27FC236}">
                <a16:creationId xmlns:a16="http://schemas.microsoft.com/office/drawing/2014/main" id="{C0B0CAFF-BA74-4267-ABE2-2994748B649F}"/>
              </a:ext>
            </a:extLst>
          </p:cNvPr>
          <p:cNvSpPr>
            <a:spLocks noGrp="1"/>
          </p:cNvSpPr>
          <p:nvPr/>
        </p:nvSpPr>
        <p:spPr>
          <a:xfrm>
            <a:off x="533400" y="1847850"/>
            <a:ext cx="5314950" cy="4286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325" b="1">
                <a:solidFill>
                  <a:srgbClr val="FF6B72"/>
                </a:solidFill>
                <a:latin typeface="Helvetica Neue"/>
                <a:ea typeface="Helvetica Neue"/>
                <a:cs typeface="Helvetica Neue"/>
              </a:defRPr>
            </a:pPr>
            <a:r>
              <a:rPr sz="2325" b="1" dirty="0">
                <a:solidFill>
                  <a:srgbClr val="FF6B72"/>
                </a:solidFill>
                <a:latin typeface="Helvetica Neue"/>
                <a:ea typeface="Helvetica Neue"/>
                <a:cs typeface="Helvetica Neue"/>
              </a:rPr>
              <a:t>Earlier: summarize during collection</a:t>
            </a:r>
          </a:p>
        </p:txBody>
      </p:sp>
      <p:sp>
        <p:nvSpPr>
          <p:cNvPr id="4" name="text-3">
            <a:extLst>
              <a:ext uri="{FF2B5EF4-FFF2-40B4-BE49-F238E27FC236}">
                <a16:creationId xmlns:a16="http://schemas.microsoft.com/office/drawing/2014/main" id="{1C625FCA-3927-461C-987D-5144ECE94398}"/>
              </a:ext>
            </a:extLst>
          </p:cNvPr>
          <p:cNvSpPr>
            <a:spLocks noGrp="1"/>
          </p:cNvSpPr>
          <p:nvPr/>
        </p:nvSpPr>
        <p:spPr>
          <a:xfrm>
            <a:off x="514350" y="2419350"/>
            <a:ext cx="5095875" cy="2095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025" b="0">
                <a:solidFill>
                  <a:srgbClr val="FFFFFF"/>
                </a:solidFill>
                <a:latin typeface="Helvetica Neue"/>
                <a:ea typeface="Helvetica Neue"/>
                <a:cs typeface="Helvetica Neue"/>
              </a:defRPr>
            </a:pPr>
            <a:r>
              <a:rPr sz="2025" b="0" dirty="0">
                <a:solidFill>
                  <a:srgbClr val="FFFFFF"/>
                </a:solidFill>
                <a:latin typeface="Helvetica Neue"/>
                <a:ea typeface="Helvetica Neue"/>
                <a:cs typeface="Helvetica Neue"/>
              </a:rPr>
              <a:t>reducer.cpp</a:t>
            </a:r>
          </a:p>
          <a:p>
            <a:pPr marL="0" indent="0" algn="l">
              <a:lnSpc>
                <a:spcPct val="110000"/>
              </a:lnSpc>
              <a:spcBef>
                <a:spcPts val="0"/>
              </a:spcBef>
              <a:spcAft>
                <a:spcPts val="0"/>
              </a:spcAft>
              <a:buNone/>
              <a:defRPr sz="2025" b="0">
                <a:solidFill>
                  <a:srgbClr val="FFFFFF"/>
                </a:solidFill>
                <a:latin typeface="Helvetica Neue"/>
                <a:ea typeface="Helvetica Neue"/>
                <a:cs typeface="Helvetica Neue"/>
              </a:defRPr>
            </a:pPr>
            <a:r>
              <a:rPr sz="2025" b="0" dirty="0">
                <a:solidFill>
                  <a:srgbClr val="FFFFFF"/>
                </a:solidFill>
                <a:latin typeface="Helvetica Neue"/>
                <a:ea typeface="Helvetica Neue"/>
                <a:cs typeface="Helvetica Neue"/>
              </a:rPr>
              <a:t>Lifetime counts and duration statistics</a:t>
            </a:r>
          </a:p>
          <a:p>
            <a:pPr marL="0" indent="0" algn="l">
              <a:lnSpc>
                <a:spcPct val="110000"/>
              </a:lnSpc>
              <a:spcBef>
                <a:spcPts val="0"/>
              </a:spcBef>
              <a:spcAft>
                <a:spcPts val="0"/>
              </a:spcAft>
              <a:buNone/>
              <a:defRPr sz="2025" b="0">
                <a:solidFill>
                  <a:srgbClr val="FFFFFF"/>
                </a:solidFill>
                <a:latin typeface="Helvetica Neue"/>
                <a:ea typeface="Helvetica Neue"/>
                <a:cs typeface="Helvetica Neue"/>
              </a:defRPr>
            </a:pPr>
            <a:endParaRPr sz="2025" b="0" dirty="0">
              <a:solidFill>
                <a:srgbClr val="FFFFFF"/>
              </a:solidFill>
              <a:latin typeface="Helvetica Neue"/>
              <a:ea typeface="Helvetica Neue"/>
              <a:cs typeface="Helvetica Neue"/>
            </a:endParaRPr>
          </a:p>
          <a:p>
            <a:pPr marL="0" indent="0" algn="l">
              <a:lnSpc>
                <a:spcPct val="110000"/>
              </a:lnSpc>
              <a:spcBef>
                <a:spcPts val="0"/>
              </a:spcBef>
              <a:spcAft>
                <a:spcPts val="0"/>
              </a:spcAft>
              <a:buNone/>
              <a:defRPr sz="2025" b="0">
                <a:solidFill>
                  <a:srgbClr val="FFFFFF"/>
                </a:solidFill>
                <a:latin typeface="Helvetica Neue"/>
                <a:ea typeface="Helvetica Neue"/>
                <a:cs typeface="Helvetica Neue"/>
              </a:defRPr>
            </a:pPr>
            <a:r>
              <a:rPr sz="2025" b="0" dirty="0">
                <a:solidFill>
                  <a:srgbClr val="FFFFFF"/>
                </a:solidFill>
                <a:latin typeface="Helvetica Neue"/>
                <a:ea typeface="Helvetica Neue"/>
                <a:cs typeface="Helvetica Neue"/>
              </a:rPr>
              <a:t>PC </a:t>
            </a:r>
            <a:r>
              <a:rPr sz="2025" b="0" dirty="0" err="1">
                <a:solidFill>
                  <a:srgbClr val="FFFFFF"/>
                </a:solidFill>
                <a:latin typeface="Helvetica Neue"/>
                <a:ea typeface="Helvetica Neue"/>
                <a:cs typeface="Helvetica Neue"/>
              </a:rPr>
              <a:t>WindowState</a:t>
            </a:r>
            <a:endParaRPr sz="2025" b="0" dirty="0">
              <a:solidFill>
                <a:srgbClr val="FFFFFF"/>
              </a:solidFill>
              <a:latin typeface="Helvetica Neue"/>
              <a:ea typeface="Helvetica Neue"/>
              <a:cs typeface="Helvetica Neue"/>
            </a:endParaRPr>
          </a:p>
          <a:p>
            <a:pPr marL="0" indent="0" algn="l">
              <a:lnSpc>
                <a:spcPct val="110000"/>
              </a:lnSpc>
              <a:spcBef>
                <a:spcPts val="0"/>
              </a:spcBef>
              <a:spcAft>
                <a:spcPts val="0"/>
              </a:spcAft>
              <a:buNone/>
              <a:defRPr sz="2025" b="0">
                <a:solidFill>
                  <a:srgbClr val="FFFFFF"/>
                </a:solidFill>
                <a:latin typeface="Helvetica Neue"/>
                <a:ea typeface="Helvetica Neue"/>
                <a:cs typeface="Helvetica Neue"/>
              </a:defRPr>
            </a:pPr>
            <a:r>
              <a:rPr sz="2025" b="0" dirty="0" err="1">
                <a:solidFill>
                  <a:srgbClr val="FFFFFF"/>
                </a:solidFill>
                <a:latin typeface="Helvetica Neue"/>
                <a:ea typeface="Helvetica Neue"/>
                <a:cs typeface="Helvetica Neue"/>
              </a:rPr>
              <a:t>HotspotStats</a:t>
            </a:r>
            <a:r>
              <a:rPr sz="2025" b="0" dirty="0">
                <a:solidFill>
                  <a:srgbClr val="FFFFFF"/>
                </a:solidFill>
                <a:latin typeface="Helvetica Neue"/>
                <a:ea typeface="Helvetica Neue"/>
                <a:cs typeface="Helvetica Neue"/>
              </a:rPr>
              <a:t> and top-hotspot ranking</a:t>
            </a:r>
          </a:p>
        </p:txBody>
      </p:sp>
      <p:sp>
        <p:nvSpPr>
          <p:cNvPr id="5" name="text-4">
            <a:extLst>
              <a:ext uri="{FF2B5EF4-FFF2-40B4-BE49-F238E27FC236}">
                <a16:creationId xmlns:a16="http://schemas.microsoft.com/office/drawing/2014/main" id="{875D7B1D-FEBA-4E80-BC8C-64FD165BF166}"/>
              </a:ext>
            </a:extLst>
          </p:cNvPr>
          <p:cNvSpPr>
            <a:spLocks noGrp="1"/>
          </p:cNvSpPr>
          <p:nvPr/>
        </p:nvSpPr>
        <p:spPr>
          <a:xfrm>
            <a:off x="6315075" y="1847850"/>
            <a:ext cx="5314950" cy="4286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325" b="1">
                <a:solidFill>
                  <a:srgbClr val="FF6B72"/>
                </a:solidFill>
                <a:latin typeface="Helvetica Neue"/>
                <a:ea typeface="Helvetica Neue"/>
                <a:cs typeface="Helvetica Neue"/>
              </a:defRPr>
            </a:pPr>
            <a:r>
              <a:rPr sz="2325" b="1">
                <a:solidFill>
                  <a:srgbClr val="FF6B72"/>
                </a:solidFill>
                <a:latin typeface="Helvetica Neue"/>
                <a:ea typeface="Helvetica Neue"/>
                <a:cs typeface="Helvetica Neue"/>
              </a:rPr>
              <a:t>Now: keep individual records</a:t>
            </a:r>
          </a:p>
        </p:txBody>
      </p:sp>
      <p:sp>
        <p:nvSpPr>
          <p:cNvPr id="6" name="text-5">
            <a:extLst>
              <a:ext uri="{FF2B5EF4-FFF2-40B4-BE49-F238E27FC236}">
                <a16:creationId xmlns:a16="http://schemas.microsoft.com/office/drawing/2014/main" id="{C09C9D7A-17BB-4248-A35B-F4596B66613F}"/>
              </a:ext>
            </a:extLst>
          </p:cNvPr>
          <p:cNvSpPr>
            <a:spLocks noGrp="1"/>
          </p:cNvSpPr>
          <p:nvPr/>
        </p:nvSpPr>
        <p:spPr>
          <a:xfrm>
            <a:off x="6315075" y="2419350"/>
            <a:ext cx="5314950" cy="2095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PcRecord   DeviceRecord   TraceRecord</a:t>
            </a:r>
          </a:p>
          <a:p>
            <a:pPr marL="0" indent="0" algn="l">
              <a:lnSpc>
                <a:spcPct val="110000"/>
              </a:lnSpc>
              <a:spcBef>
                <a:spcPts val="0"/>
              </a:spcBef>
              <a:spcAft>
                <a:spcPts val="0"/>
              </a:spcAft>
              <a:buNone/>
              <a:defRPr sz="2025" b="0">
                <a:solidFill>
                  <a:srgbClr val="FFFFFF"/>
                </a:solidFill>
                <a:latin typeface="Helvetica Neue"/>
                <a:ea typeface="Helvetica Neue"/>
                <a:cs typeface="Helvetica Neue"/>
              </a:defRPr>
            </a:pPr>
            <a:endParaRPr sz="2025" b="0">
              <a:solidFill>
                <a:srgbClr val="FFFFFF"/>
              </a:solidFill>
              <a:latin typeface="Helvetica Neue"/>
              <a:ea typeface="Helvetica Neue"/>
              <a:cs typeface="Helvetica Neue"/>
            </a:endParaRPr>
          </a:p>
          <a:p>
            <a:pPr marL="0" indent="0" algn="l">
              <a:lnSpc>
                <a:spcPct val="110000"/>
              </a:lnSpc>
              <a:spcBef>
                <a:spcPts val="0"/>
              </a:spcBef>
              <a:spcAft>
                <a:spcPts val="0"/>
              </a:spcAft>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Window&lt;Record&gt; stores raw records.</a:t>
            </a:r>
          </a:p>
          <a:p>
            <a:pPr marL="0" indent="0" algn="l">
              <a:lnSpc>
                <a:spcPct val="110000"/>
              </a:lnSpc>
              <a:spcBef>
                <a:spcPts val="0"/>
              </a:spcBef>
              <a:spcAft>
                <a:spcPts val="0"/>
              </a:spcAft>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Experiment analysis derives the</a:t>
            </a:r>
          </a:p>
          <a:p>
            <a:pPr marL="0" indent="0" algn="l">
              <a:lnSpc>
                <a:spcPct val="110000"/>
              </a:lnSpc>
              <a:spcBef>
                <a:spcPts val="0"/>
              </a:spcBef>
              <a:spcAft>
                <a:spcPts val="0"/>
              </a:spcAft>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summaries needed for each study.</a:t>
            </a:r>
          </a:p>
        </p:txBody>
      </p:sp>
      <p:sp>
        <p:nvSpPr>
          <p:cNvPr id="7" name="text-6">
            <a:extLst>
              <a:ext uri="{FF2B5EF4-FFF2-40B4-BE49-F238E27FC236}">
                <a16:creationId xmlns:a16="http://schemas.microsoft.com/office/drawing/2014/main" id="{3187BB4C-F178-46BF-9A9C-EB94E0EE2F69}"/>
              </a:ext>
            </a:extLst>
          </p:cNvPr>
          <p:cNvSpPr>
            <a:spLocks noGrp="1"/>
          </p:cNvSpPr>
          <p:nvPr/>
        </p:nvSpPr>
        <p:spPr>
          <a:xfrm>
            <a:off x="552450" y="5238750"/>
            <a:ext cx="10668000" cy="8096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We can change the analysis without changing how the tool collects records.</a:t>
            </a:r>
          </a:p>
        </p:txBody>
      </p:sp>
    </p:spTree>
    <p:extLst>
      <p:ext uri="{BB962C8B-B14F-4D97-AF65-F5344CB8AC3E}">
        <p14:creationId xmlns:p14="http://schemas.microsoft.com/office/powerpoint/2010/main" val="3667182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3" name="text-0">
            <a:extLst>
              <a:ext uri="{FF2B5EF4-FFF2-40B4-BE49-F238E27FC236}">
                <a16:creationId xmlns:a16="http://schemas.microsoft.com/office/drawing/2014/main" id="{F0A7057D-9ED6-4DAC-81D9-88A53196E81D}"/>
              </a:ext>
            </a:extLst>
          </p:cNvPr>
          <p:cNvSpPr>
            <a:spLocks noGrp="1"/>
          </p:cNvSpPr>
          <p:nvPr/>
        </p:nvSpPr>
        <p:spPr>
          <a:xfrm>
            <a:off x="514350" y="419100"/>
            <a:ext cx="11163300" cy="10668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3450" b="1">
                <a:solidFill>
                  <a:srgbClr val="202126"/>
                </a:solidFill>
                <a:latin typeface="Helvetica Neue"/>
                <a:ea typeface="Helvetica Neue"/>
                <a:cs typeface="Helvetica Neue"/>
              </a:defRPr>
            </a:pPr>
            <a:r>
              <a:rPr sz="3450" b="1">
                <a:solidFill>
                  <a:srgbClr val="202126"/>
                </a:solidFill>
                <a:latin typeface="Helvetica Neue"/>
                <a:ea typeface="Helvetica Neue"/>
                <a:cs typeface="Helvetica Neue"/>
              </a:rPr>
              <a:t>Runtime structure</a:t>
            </a:r>
          </a:p>
        </p:txBody>
      </p:sp>
      <p:sp>
        <p:nvSpPr>
          <p:cNvPr id="2" name="text-1">
            <a:extLst>
              <a:ext uri="{FF2B5EF4-FFF2-40B4-BE49-F238E27FC236}">
                <a16:creationId xmlns:a16="http://schemas.microsoft.com/office/drawing/2014/main" id="{C7751581-2D91-4BC3-8F8A-72F23E6D18E8}"/>
              </a:ext>
            </a:extLst>
          </p:cNvPr>
          <p:cNvSpPr>
            <a:spLocks noGrp="1"/>
          </p:cNvSpPr>
          <p:nvPr/>
        </p:nvSpPr>
        <p:spPr>
          <a:xfrm>
            <a:off x="11144250" y="6362700"/>
            <a:ext cx="523875" cy="209550"/>
          </a:xfrm>
          <a:prstGeom prst="rect">
            <a:avLst/>
          </a:prstGeom>
          <a:noFill/>
          <a:ln w="0">
            <a:noFill/>
          </a:ln>
        </p:spPr>
        <p:txBody>
          <a:bodyPr wrap="square" lIns="0" tIns="0" rIns="0" bIns="0" anchor="t">
            <a:noAutofit/>
          </a:bodyPr>
          <a:lstStyle/>
          <a:p>
            <a:pPr marL="0" indent="0" algn="r">
              <a:lnSpc>
                <a:spcPct val="110000"/>
              </a:lnSpc>
              <a:spcBef>
                <a:spcPts val="0"/>
              </a:spcBef>
              <a:spcAft>
                <a:spcPts val="0"/>
              </a:spcAft>
              <a:buNone/>
              <a:defRPr sz="1125" b="0">
                <a:solidFill>
                  <a:srgbClr val="60616A"/>
                </a:solidFill>
                <a:latin typeface="Helvetica Neue"/>
                <a:ea typeface="Helvetica Neue"/>
                <a:cs typeface="Helvetica Neue"/>
              </a:defRPr>
            </a:pPr>
            <a:r>
              <a:rPr sz="1125" b="0">
                <a:solidFill>
                  <a:srgbClr val="60616A"/>
                </a:solidFill>
                <a:latin typeface="Helvetica Neue"/>
                <a:ea typeface="Helvetica Neue"/>
                <a:cs typeface="Helvetica Neue"/>
              </a:rPr>
              <a:t>04</a:t>
            </a:r>
          </a:p>
        </p:txBody>
      </p:sp>
      <p:sp>
        <p:nvSpPr>
          <p:cNvPr id="3" name="text-2">
            <a:extLst>
              <a:ext uri="{FF2B5EF4-FFF2-40B4-BE49-F238E27FC236}">
                <a16:creationId xmlns:a16="http://schemas.microsoft.com/office/drawing/2014/main" id="{352FB228-53D0-4755-8B35-A2665265E582}"/>
              </a:ext>
            </a:extLst>
          </p:cNvPr>
          <p:cNvSpPr>
            <a:spLocks noGrp="1"/>
          </p:cNvSpPr>
          <p:nvPr/>
        </p:nvSpPr>
        <p:spPr>
          <a:xfrm>
            <a:off x="533400" y="1743075"/>
            <a:ext cx="7429500" cy="43815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475" b="1">
                <a:solidFill>
                  <a:srgbClr val="C52F40"/>
                </a:solidFill>
                <a:latin typeface="Helvetica Neue"/>
                <a:ea typeface="Helvetica Neue"/>
                <a:cs typeface="Helvetica Neue"/>
              </a:defRPr>
            </a:pPr>
            <a:r>
              <a:rPr sz="2475" b="1">
                <a:solidFill>
                  <a:srgbClr val="C52F40"/>
                </a:solidFill>
                <a:latin typeface="Helvetica Neue"/>
                <a:ea typeface="Helvetica Neue"/>
                <a:cs typeface="Helvetica Neue"/>
              </a:rPr>
              <a:t>HIP application</a:t>
            </a:r>
          </a:p>
        </p:txBody>
      </p:sp>
      <p:sp>
        <p:nvSpPr>
          <p:cNvPr id="4" name="text-3">
            <a:extLst>
              <a:ext uri="{FF2B5EF4-FFF2-40B4-BE49-F238E27FC236}">
                <a16:creationId xmlns:a16="http://schemas.microsoft.com/office/drawing/2014/main" id="{157A1075-7120-4A8D-A9DD-E2D0CAF0A34E}"/>
              </a:ext>
            </a:extLst>
          </p:cNvPr>
          <p:cNvSpPr>
            <a:spLocks noGrp="1"/>
          </p:cNvSpPr>
          <p:nvPr/>
        </p:nvSpPr>
        <p:spPr>
          <a:xfrm>
            <a:off x="533400" y="2247900"/>
            <a:ext cx="7429500" cy="4095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800" b="0">
                <a:solidFill>
                  <a:srgbClr val="60616A"/>
                </a:solidFill>
                <a:latin typeface="Helvetica Neue"/>
                <a:ea typeface="Helvetica Neue"/>
                <a:cs typeface="Helvetica Neue"/>
              </a:defRPr>
            </a:pPr>
            <a:r>
              <a:rPr sz="1800" b="0">
                <a:solidFill>
                  <a:srgbClr val="60616A"/>
                </a:solidFill>
                <a:latin typeface="Helvetica Neue"/>
                <a:ea typeface="Helvetica Neue"/>
                <a:cs typeface="Helvetica Neue"/>
              </a:rPr>
              <a:t>build/librocprof_ldms_tool.so</a:t>
            </a:r>
          </a:p>
        </p:txBody>
      </p:sp>
      <p:sp>
        <p:nvSpPr>
          <p:cNvPr id="5" name="text-4">
            <a:extLst>
              <a:ext uri="{FF2B5EF4-FFF2-40B4-BE49-F238E27FC236}">
                <a16:creationId xmlns:a16="http://schemas.microsoft.com/office/drawing/2014/main" id="{07F043FC-E6AD-4DE7-96C9-827FBD1D2061}"/>
              </a:ext>
            </a:extLst>
          </p:cNvPr>
          <p:cNvSpPr>
            <a:spLocks noGrp="1"/>
          </p:cNvSpPr>
          <p:nvPr/>
        </p:nvSpPr>
        <p:spPr>
          <a:xfrm>
            <a:off x="9010650" y="1743075"/>
            <a:ext cx="2647950" cy="43815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475" b="1">
                <a:solidFill>
                  <a:srgbClr val="C52F40"/>
                </a:solidFill>
                <a:latin typeface="Helvetica Neue"/>
                <a:ea typeface="Helvetica Neue"/>
                <a:cs typeface="Helvetica Neue"/>
              </a:defRPr>
            </a:pPr>
            <a:r>
              <a:rPr sz="2475" b="1">
                <a:solidFill>
                  <a:srgbClr val="C52F40"/>
                </a:solidFill>
                <a:latin typeface="Helvetica Neue"/>
                <a:ea typeface="Helvetica Neue"/>
                <a:cs typeface="Helvetica Neue"/>
              </a:rPr>
              <a:t>LDMS daemon</a:t>
            </a:r>
          </a:p>
        </p:txBody>
      </p:sp>
      <p:sp>
        <p:nvSpPr>
          <p:cNvPr id="6" name="text-5">
            <a:extLst>
              <a:ext uri="{FF2B5EF4-FFF2-40B4-BE49-F238E27FC236}">
                <a16:creationId xmlns:a16="http://schemas.microsoft.com/office/drawing/2014/main" id="{ABA1F5AF-6305-4593-B353-014BE3D8F421}"/>
              </a:ext>
            </a:extLst>
          </p:cNvPr>
          <p:cNvSpPr>
            <a:spLocks noGrp="1"/>
          </p:cNvSpPr>
          <p:nvPr/>
        </p:nvSpPr>
        <p:spPr>
          <a:xfrm>
            <a:off x="9010650" y="2247900"/>
            <a:ext cx="2667000" cy="6000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650" b="0">
                <a:solidFill>
                  <a:srgbClr val="60616A"/>
                </a:solidFill>
                <a:latin typeface="Helvetica Neue"/>
                <a:ea typeface="Helvetica Neue"/>
                <a:cs typeface="Helvetica Neue"/>
              </a:defRPr>
            </a:pPr>
            <a:r>
              <a:rPr sz="1650" b="0">
                <a:solidFill>
                  <a:srgbClr val="60616A"/>
                </a:solidFill>
                <a:latin typeface="Helvetica Neue"/>
                <a:ea typeface="Helvetica Neue"/>
                <a:cs typeface="Helvetica Neue"/>
              </a:rPr>
              <a:t>librocprof_msg_sampler.so</a:t>
            </a:r>
          </a:p>
        </p:txBody>
      </p:sp>
      <p:sp>
        <p:nvSpPr>
          <p:cNvPr id="7" name="Rectangle 6">
            <a:extLst>
              <a:ext uri="{FF2B5EF4-FFF2-40B4-BE49-F238E27FC236}">
                <a16:creationId xmlns:a16="http://schemas.microsoft.com/office/drawing/2014/main" id="{B543A15A-B869-4303-A88E-8CBD57B0DDC2}"/>
              </a:ext>
            </a:extLst>
          </p:cNvPr>
          <p:cNvSpPr>
            <a:spLocks noGrp="1"/>
          </p:cNvSpPr>
          <p:nvPr/>
        </p:nvSpPr>
        <p:spPr>
          <a:xfrm>
            <a:off x="533400" y="3105150"/>
            <a:ext cx="2333625" cy="1228725"/>
          </a:xfrm>
          <a:prstGeom prst="rect">
            <a:avLst/>
          </a:prstGeom>
          <a:solidFill>
            <a:srgbClr val="FFFFFF"/>
          </a:solidFill>
          <a:ln w="12383">
            <a:solidFill>
              <a:srgbClr val="202126"/>
            </a:solidFill>
          </a:ln>
        </p:spPr>
        <p:txBody>
          <a:bodyPr/>
          <a:lstStyle/>
          <a:p>
            <a:endParaRPr lang="en-US"/>
          </a:p>
        </p:txBody>
      </p:sp>
      <p:sp>
        <p:nvSpPr>
          <p:cNvPr id="8" name="Rectangle 7">
            <a:extLst>
              <a:ext uri="{FF2B5EF4-FFF2-40B4-BE49-F238E27FC236}">
                <a16:creationId xmlns:a16="http://schemas.microsoft.com/office/drawing/2014/main" id="{70716BE9-BCD1-409F-ADDB-2C6951DDF22A}"/>
              </a:ext>
            </a:extLst>
          </p:cNvPr>
          <p:cNvSpPr>
            <a:spLocks noGrp="1"/>
          </p:cNvSpPr>
          <p:nvPr/>
        </p:nvSpPr>
        <p:spPr>
          <a:xfrm>
            <a:off x="3438525" y="3105150"/>
            <a:ext cx="2028825" cy="1228725"/>
          </a:xfrm>
          <a:prstGeom prst="rect">
            <a:avLst/>
          </a:prstGeom>
          <a:solidFill>
            <a:srgbClr val="FFFFFF"/>
          </a:solidFill>
          <a:ln w="12383">
            <a:solidFill>
              <a:srgbClr val="202126"/>
            </a:solidFill>
          </a:ln>
        </p:spPr>
        <p:txBody>
          <a:bodyPr/>
          <a:lstStyle/>
          <a:p>
            <a:endParaRPr lang="en-US"/>
          </a:p>
        </p:txBody>
      </p:sp>
      <p:sp>
        <p:nvSpPr>
          <p:cNvPr id="9" name="Rectangle 8">
            <a:extLst>
              <a:ext uri="{FF2B5EF4-FFF2-40B4-BE49-F238E27FC236}">
                <a16:creationId xmlns:a16="http://schemas.microsoft.com/office/drawing/2014/main" id="{A757A8EA-A7EF-4AB1-94D2-439E5FE28671}"/>
              </a:ext>
            </a:extLst>
          </p:cNvPr>
          <p:cNvSpPr>
            <a:spLocks noGrp="1"/>
          </p:cNvSpPr>
          <p:nvPr/>
        </p:nvSpPr>
        <p:spPr>
          <a:xfrm>
            <a:off x="6038850" y="3105150"/>
            <a:ext cx="2143125" cy="1228725"/>
          </a:xfrm>
          <a:prstGeom prst="rect">
            <a:avLst/>
          </a:prstGeom>
          <a:solidFill>
            <a:srgbClr val="FFFFFF"/>
          </a:solidFill>
          <a:ln w="12383">
            <a:solidFill>
              <a:srgbClr val="202126"/>
            </a:solidFill>
          </a:ln>
        </p:spPr>
        <p:txBody>
          <a:bodyPr/>
          <a:lstStyle/>
          <a:p>
            <a:endParaRPr lang="en-US"/>
          </a:p>
        </p:txBody>
      </p:sp>
      <p:sp>
        <p:nvSpPr>
          <p:cNvPr id="10" name="Rectangle 9">
            <a:extLst>
              <a:ext uri="{FF2B5EF4-FFF2-40B4-BE49-F238E27FC236}">
                <a16:creationId xmlns:a16="http://schemas.microsoft.com/office/drawing/2014/main" id="{66B3EF16-F19E-4130-A05B-029D2EADC68F}"/>
              </a:ext>
            </a:extLst>
          </p:cNvPr>
          <p:cNvSpPr>
            <a:spLocks noGrp="1"/>
          </p:cNvSpPr>
          <p:nvPr/>
        </p:nvSpPr>
        <p:spPr>
          <a:xfrm>
            <a:off x="9010650" y="3105150"/>
            <a:ext cx="2657475" cy="1228725"/>
          </a:xfrm>
          <a:prstGeom prst="rect">
            <a:avLst/>
          </a:prstGeom>
          <a:solidFill>
            <a:srgbClr val="FFFFFF"/>
          </a:solidFill>
          <a:ln w="12383">
            <a:solidFill>
              <a:srgbClr val="202126"/>
            </a:solidFill>
          </a:ln>
        </p:spPr>
        <p:txBody>
          <a:bodyPr/>
          <a:lstStyle/>
          <a:p>
            <a:endParaRPr lang="en-US"/>
          </a:p>
        </p:txBody>
      </p:sp>
      <p:cxnSp>
        <p:nvCxnSpPr>
          <p:cNvPr id="72" name="Straight Arrow Connector 71"/>
          <p:cNvCxnSpPr>
            <a:stCxn id="7" idx="3"/>
            <a:endCxn id="8" idx="1"/>
          </p:cNvCxnSpPr>
          <p:nvPr/>
        </p:nvCxnSpPr>
        <p:spPr>
          <a:xfrm>
            <a:off x="2867025" y="3719513"/>
            <a:ext cx="571500" cy="0"/>
          </a:xfrm>
          <a:prstGeom prst="straightConnector1">
            <a:avLst/>
          </a:prstGeom>
          <a:ln w="20955">
            <a:solidFill>
              <a:srgbClr val="C52F40"/>
            </a:solidFill>
            <a:tailEnd type="arrow" w="med" len="med"/>
          </a:ln>
        </p:spPr>
      </p:cxnSp>
      <p:cxnSp>
        <p:nvCxnSpPr>
          <p:cNvPr id="73" name="Straight Arrow Connector 72"/>
          <p:cNvCxnSpPr>
            <a:stCxn id="8" idx="3"/>
            <a:endCxn id="9" idx="1"/>
          </p:cNvCxnSpPr>
          <p:nvPr/>
        </p:nvCxnSpPr>
        <p:spPr>
          <a:xfrm>
            <a:off x="5467350" y="3719513"/>
            <a:ext cx="571500" cy="0"/>
          </a:xfrm>
          <a:prstGeom prst="straightConnector1">
            <a:avLst/>
          </a:prstGeom>
          <a:ln w="20955">
            <a:solidFill>
              <a:srgbClr val="C52F40"/>
            </a:solidFill>
            <a:tailEnd type="arrow" w="med" len="med"/>
          </a:ln>
        </p:spPr>
      </p:cxnSp>
      <p:cxnSp>
        <p:nvCxnSpPr>
          <p:cNvPr id="74" name="Straight Arrow Connector 73"/>
          <p:cNvCxnSpPr>
            <a:stCxn id="9" idx="3"/>
            <a:endCxn id="10" idx="1"/>
          </p:cNvCxnSpPr>
          <p:nvPr/>
        </p:nvCxnSpPr>
        <p:spPr>
          <a:xfrm>
            <a:off x="8181975" y="3719513"/>
            <a:ext cx="828675" cy="0"/>
          </a:xfrm>
          <a:prstGeom prst="straightConnector1">
            <a:avLst/>
          </a:prstGeom>
          <a:ln w="20955">
            <a:solidFill>
              <a:srgbClr val="C52F40"/>
            </a:solidFill>
            <a:tailEnd type="arrow" w="med" len="med"/>
          </a:ln>
        </p:spPr>
      </p:cxnSp>
      <p:sp>
        <p:nvSpPr>
          <p:cNvPr id="14" name="text-13">
            <a:extLst>
              <a:ext uri="{FF2B5EF4-FFF2-40B4-BE49-F238E27FC236}">
                <a16:creationId xmlns:a16="http://schemas.microsoft.com/office/drawing/2014/main" id="{71D211C5-EF54-44F6-8433-D04247778A88}"/>
              </a:ext>
            </a:extLst>
          </p:cNvPr>
          <p:cNvSpPr>
            <a:spLocks noGrp="1"/>
          </p:cNvSpPr>
          <p:nvPr/>
        </p:nvSpPr>
        <p:spPr>
          <a:xfrm>
            <a:off x="714375" y="3267075"/>
            <a:ext cx="2038350" cy="104775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875" b="1">
                <a:solidFill>
                  <a:srgbClr val="202126"/>
                </a:solidFill>
                <a:latin typeface="Helvetica Neue"/>
                <a:ea typeface="Helvetica Neue"/>
                <a:cs typeface="Helvetica Neue"/>
              </a:defRPr>
            </a:pPr>
            <a:r>
              <a:rPr sz="1875" b="1">
                <a:solidFill>
                  <a:srgbClr val="202126"/>
                </a:solidFill>
                <a:latin typeface="Helvetica Neue"/>
                <a:ea typeface="Helvetica Neue"/>
                <a:cs typeface="Helvetica Neue"/>
              </a:rPr>
              <a:t>PcSampler</a:t>
            </a:r>
          </a:p>
          <a:p>
            <a:pPr marL="0" indent="0" algn="l">
              <a:lnSpc>
                <a:spcPct val="110000"/>
              </a:lnSpc>
              <a:spcBef>
                <a:spcPts val="0"/>
              </a:spcBef>
              <a:spcAft>
                <a:spcPts val="0"/>
              </a:spcAft>
              <a:buNone/>
              <a:defRPr sz="1875" b="1">
                <a:solidFill>
                  <a:srgbClr val="202126"/>
                </a:solidFill>
                <a:latin typeface="Helvetica Neue"/>
                <a:ea typeface="Helvetica Neue"/>
                <a:cs typeface="Helvetica Neue"/>
              </a:defRPr>
            </a:pPr>
            <a:r>
              <a:rPr sz="1875" b="1">
                <a:solidFill>
                  <a:srgbClr val="202126"/>
                </a:solidFill>
                <a:latin typeface="Helvetica Neue"/>
                <a:ea typeface="Helvetica Neue"/>
                <a:cs typeface="Helvetica Neue"/>
              </a:rPr>
              <a:t>DeviceSampler</a:t>
            </a:r>
          </a:p>
          <a:p>
            <a:pPr marL="0" indent="0" algn="l">
              <a:lnSpc>
                <a:spcPct val="110000"/>
              </a:lnSpc>
              <a:spcBef>
                <a:spcPts val="0"/>
              </a:spcBef>
              <a:spcAft>
                <a:spcPts val="0"/>
              </a:spcAft>
              <a:buNone/>
              <a:defRPr sz="1875" b="1">
                <a:solidFill>
                  <a:srgbClr val="202126"/>
                </a:solidFill>
                <a:latin typeface="Helvetica Neue"/>
                <a:ea typeface="Helvetica Neue"/>
                <a:cs typeface="Helvetica Neue"/>
              </a:defRPr>
            </a:pPr>
            <a:r>
              <a:rPr sz="1875" b="1">
                <a:solidFill>
                  <a:srgbClr val="202126"/>
                </a:solidFill>
                <a:latin typeface="Helvetica Neue"/>
                <a:ea typeface="Helvetica Neue"/>
                <a:cs typeface="Helvetica Neue"/>
              </a:rPr>
              <a:t>TraceSampler</a:t>
            </a:r>
          </a:p>
        </p:txBody>
      </p:sp>
      <p:sp>
        <p:nvSpPr>
          <p:cNvPr id="15" name="text-14">
            <a:extLst>
              <a:ext uri="{FF2B5EF4-FFF2-40B4-BE49-F238E27FC236}">
                <a16:creationId xmlns:a16="http://schemas.microsoft.com/office/drawing/2014/main" id="{70E67167-D57C-4760-83E2-2F79129E72EF}"/>
              </a:ext>
            </a:extLst>
          </p:cNvPr>
          <p:cNvSpPr>
            <a:spLocks noGrp="1"/>
          </p:cNvSpPr>
          <p:nvPr/>
        </p:nvSpPr>
        <p:spPr>
          <a:xfrm>
            <a:off x="3619500" y="3343275"/>
            <a:ext cx="1685925" cy="8096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175" b="1">
                <a:solidFill>
                  <a:srgbClr val="202126"/>
                </a:solidFill>
                <a:latin typeface="Helvetica Neue"/>
                <a:ea typeface="Helvetica Neue"/>
                <a:cs typeface="Helvetica Neue"/>
              </a:defRPr>
            </a:pPr>
            <a:r>
              <a:rPr sz="2175" b="1">
                <a:solidFill>
                  <a:srgbClr val="202126"/>
                </a:solidFill>
                <a:latin typeface="Helvetica Neue"/>
                <a:ea typeface="Helvetica Neue"/>
                <a:cs typeface="Helvetica Neue"/>
              </a:rPr>
              <a:t>Window</a:t>
            </a:r>
          </a:p>
          <a:p>
            <a:pPr marL="0" indent="0" algn="l">
              <a:lnSpc>
                <a:spcPct val="110000"/>
              </a:lnSpc>
              <a:spcBef>
                <a:spcPts val="0"/>
              </a:spcBef>
              <a:spcAft>
                <a:spcPts val="0"/>
              </a:spcAft>
              <a:buNone/>
              <a:defRPr sz="2175" b="1">
                <a:solidFill>
                  <a:srgbClr val="202126"/>
                </a:solidFill>
                <a:latin typeface="Helvetica Neue"/>
                <a:ea typeface="Helvetica Neue"/>
                <a:cs typeface="Helvetica Neue"/>
              </a:defRPr>
            </a:pPr>
            <a:r>
              <a:rPr sz="2175" b="1">
                <a:solidFill>
                  <a:srgbClr val="202126"/>
                </a:solidFill>
                <a:latin typeface="Helvetica Neue"/>
                <a:ea typeface="Helvetica Neue"/>
                <a:cs typeface="Helvetica Neue"/>
              </a:rPr>
              <a:t>&lt;Record&gt;</a:t>
            </a:r>
          </a:p>
        </p:txBody>
      </p:sp>
      <p:sp>
        <p:nvSpPr>
          <p:cNvPr id="16" name="text-15">
            <a:extLst>
              <a:ext uri="{FF2B5EF4-FFF2-40B4-BE49-F238E27FC236}">
                <a16:creationId xmlns:a16="http://schemas.microsoft.com/office/drawing/2014/main" id="{376C7BCF-234F-4421-A565-5FFDA52CD73C}"/>
              </a:ext>
            </a:extLst>
          </p:cNvPr>
          <p:cNvSpPr>
            <a:spLocks noGrp="1"/>
          </p:cNvSpPr>
          <p:nvPr/>
        </p:nvSpPr>
        <p:spPr>
          <a:xfrm>
            <a:off x="6210300" y="3514725"/>
            <a:ext cx="1838325" cy="4286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175" b="1">
                <a:solidFill>
                  <a:srgbClr val="202126"/>
                </a:solidFill>
                <a:latin typeface="Helvetica Neue"/>
                <a:ea typeface="Helvetica Neue"/>
                <a:cs typeface="Helvetica Neue"/>
              </a:defRPr>
            </a:pPr>
            <a:r>
              <a:rPr sz="2175" b="1">
                <a:solidFill>
                  <a:srgbClr val="202126"/>
                </a:solidFill>
                <a:latin typeface="Helvetica Neue"/>
                <a:ea typeface="Helvetica Neue"/>
                <a:cs typeface="Helvetica Neue"/>
              </a:rPr>
              <a:t>Publisher</a:t>
            </a:r>
          </a:p>
        </p:txBody>
      </p:sp>
      <p:sp>
        <p:nvSpPr>
          <p:cNvPr id="17" name="text-16">
            <a:extLst>
              <a:ext uri="{FF2B5EF4-FFF2-40B4-BE49-F238E27FC236}">
                <a16:creationId xmlns:a16="http://schemas.microsoft.com/office/drawing/2014/main" id="{4DDD9FB3-7E08-4473-8C1E-EA724D3963F2}"/>
              </a:ext>
            </a:extLst>
          </p:cNvPr>
          <p:cNvSpPr>
            <a:spLocks noGrp="1"/>
          </p:cNvSpPr>
          <p:nvPr/>
        </p:nvSpPr>
        <p:spPr>
          <a:xfrm>
            <a:off x="9191625" y="3362325"/>
            <a:ext cx="2371725" cy="8096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025" b="1">
                <a:solidFill>
                  <a:srgbClr val="202126"/>
                </a:solidFill>
                <a:latin typeface="Helvetica Neue"/>
                <a:ea typeface="Helvetica Neue"/>
                <a:cs typeface="Helvetica Neue"/>
              </a:defRPr>
            </a:pPr>
            <a:r>
              <a:rPr sz="2025" b="1">
                <a:solidFill>
                  <a:srgbClr val="202126"/>
                </a:solidFill>
                <a:latin typeface="Helvetica Neue"/>
                <a:ea typeface="Helvetica Neue"/>
                <a:cs typeface="Helvetica Neue"/>
              </a:rPr>
              <a:t>Message plugin</a:t>
            </a:r>
          </a:p>
          <a:p>
            <a:pPr marL="0" indent="0" algn="l">
              <a:lnSpc>
                <a:spcPct val="110000"/>
              </a:lnSpc>
              <a:spcBef>
                <a:spcPts val="0"/>
              </a:spcBef>
              <a:spcAft>
                <a:spcPts val="0"/>
              </a:spcAft>
              <a:buNone/>
              <a:defRPr sz="2025" b="1">
                <a:solidFill>
                  <a:srgbClr val="202126"/>
                </a:solidFill>
                <a:latin typeface="Helvetica Neue"/>
                <a:ea typeface="Helvetica Neue"/>
                <a:cs typeface="Helvetica Neue"/>
              </a:defRPr>
            </a:pPr>
            <a:r>
              <a:rPr sz="2025" b="1">
                <a:solidFill>
                  <a:srgbClr val="202126"/>
                </a:solidFill>
                <a:latin typeface="Helvetica Neue"/>
                <a:ea typeface="Helvetica Neue"/>
                <a:cs typeface="Helvetica Neue"/>
              </a:rPr>
              <a:t>LDMS record lists</a:t>
            </a:r>
          </a:p>
        </p:txBody>
      </p:sp>
      <p:sp>
        <p:nvSpPr>
          <p:cNvPr id="18" name="text-17">
            <a:extLst>
              <a:ext uri="{FF2B5EF4-FFF2-40B4-BE49-F238E27FC236}">
                <a16:creationId xmlns:a16="http://schemas.microsoft.com/office/drawing/2014/main" id="{36AD2233-41D7-4C0A-9EDC-CAF43C08D5AA}"/>
              </a:ext>
            </a:extLst>
          </p:cNvPr>
          <p:cNvSpPr>
            <a:spLocks noGrp="1"/>
          </p:cNvSpPr>
          <p:nvPr/>
        </p:nvSpPr>
        <p:spPr>
          <a:xfrm>
            <a:off x="533400" y="4552950"/>
            <a:ext cx="2333625"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875" b="0">
                <a:solidFill>
                  <a:srgbClr val="60616A"/>
                </a:solidFill>
                <a:latin typeface="Helvetica Neue"/>
                <a:ea typeface="Helvetica Neue"/>
                <a:cs typeface="Helvetica Neue"/>
              </a:defRPr>
            </a:pPr>
            <a:r>
              <a:rPr sz="1875" b="0">
                <a:solidFill>
                  <a:srgbClr val="60616A"/>
                </a:solidFill>
                <a:latin typeface="Helvetica Neue"/>
                <a:ea typeface="Helvetica Neue"/>
                <a:cs typeface="Helvetica Neue"/>
              </a:rPr>
              <a:t>Read SDK records</a:t>
            </a:r>
          </a:p>
        </p:txBody>
      </p:sp>
      <p:sp>
        <p:nvSpPr>
          <p:cNvPr id="19" name="text-18">
            <a:extLst>
              <a:ext uri="{FF2B5EF4-FFF2-40B4-BE49-F238E27FC236}">
                <a16:creationId xmlns:a16="http://schemas.microsoft.com/office/drawing/2014/main" id="{9335C4CC-CACE-4D44-8190-4E757A788EBD}"/>
              </a:ext>
            </a:extLst>
          </p:cNvPr>
          <p:cNvSpPr>
            <a:spLocks noGrp="1"/>
          </p:cNvSpPr>
          <p:nvPr/>
        </p:nvSpPr>
        <p:spPr>
          <a:xfrm>
            <a:off x="3438525" y="4552950"/>
            <a:ext cx="2143125"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875" b="0">
                <a:solidFill>
                  <a:srgbClr val="60616A"/>
                </a:solidFill>
                <a:latin typeface="Helvetica Neue"/>
                <a:ea typeface="Helvetica Neue"/>
                <a:cs typeface="Helvetica Neue"/>
              </a:defRPr>
            </a:pPr>
            <a:r>
              <a:rPr sz="1875" b="0">
                <a:solidFill>
                  <a:srgbClr val="60616A"/>
                </a:solidFill>
                <a:latin typeface="Helvetica Neue"/>
                <a:ea typeface="Helvetica Neue"/>
                <a:cs typeface="Helvetica Neue"/>
              </a:rPr>
              <a:t>Record batches</a:t>
            </a:r>
          </a:p>
        </p:txBody>
      </p:sp>
      <p:sp>
        <p:nvSpPr>
          <p:cNvPr id="20" name="text-19">
            <a:extLst>
              <a:ext uri="{FF2B5EF4-FFF2-40B4-BE49-F238E27FC236}">
                <a16:creationId xmlns:a16="http://schemas.microsoft.com/office/drawing/2014/main" id="{F9EA8690-8BB2-4ACA-9C42-0DCE87C4E97C}"/>
              </a:ext>
            </a:extLst>
          </p:cNvPr>
          <p:cNvSpPr>
            <a:spLocks noGrp="1"/>
          </p:cNvSpPr>
          <p:nvPr/>
        </p:nvSpPr>
        <p:spPr>
          <a:xfrm>
            <a:off x="6038850" y="4552950"/>
            <a:ext cx="2238375"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875" b="0">
                <a:solidFill>
                  <a:srgbClr val="60616A"/>
                </a:solidFill>
                <a:latin typeface="Helvetica Neue"/>
                <a:ea typeface="Helvetica Neue"/>
                <a:cs typeface="Helvetica Neue"/>
              </a:defRPr>
            </a:pPr>
            <a:r>
              <a:rPr sz="1875" b="0">
                <a:solidFill>
                  <a:srgbClr val="60616A"/>
                </a:solidFill>
                <a:latin typeface="Helvetica Neue"/>
                <a:ea typeface="Helvetica Neue"/>
                <a:cs typeface="Helvetica Neue"/>
              </a:rPr>
              <a:t>JSON messages</a:t>
            </a:r>
          </a:p>
        </p:txBody>
      </p:sp>
      <p:sp>
        <p:nvSpPr>
          <p:cNvPr id="21" name="text-20">
            <a:extLst>
              <a:ext uri="{FF2B5EF4-FFF2-40B4-BE49-F238E27FC236}">
                <a16:creationId xmlns:a16="http://schemas.microsoft.com/office/drawing/2014/main" id="{8B7362B6-0D45-4963-BB95-FEE2418BD9D9}"/>
              </a:ext>
            </a:extLst>
          </p:cNvPr>
          <p:cNvSpPr>
            <a:spLocks noGrp="1"/>
          </p:cNvSpPr>
          <p:nvPr/>
        </p:nvSpPr>
        <p:spPr>
          <a:xfrm>
            <a:off x="9010650" y="4552950"/>
            <a:ext cx="2476500"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875" b="0">
                <a:solidFill>
                  <a:srgbClr val="60616A"/>
                </a:solidFill>
                <a:latin typeface="Helvetica Neue"/>
                <a:ea typeface="Helvetica Neue"/>
                <a:cs typeface="Helvetica Neue"/>
              </a:defRPr>
            </a:pPr>
            <a:r>
              <a:rPr sz="1875" b="0">
                <a:solidFill>
                  <a:srgbClr val="60616A"/>
                </a:solidFill>
                <a:latin typeface="Helvetica Neue"/>
                <a:ea typeface="Helvetica Neue"/>
                <a:cs typeface="Helvetica Neue"/>
              </a:rPr>
              <a:t>CSV storage</a:t>
            </a:r>
          </a:p>
        </p:txBody>
      </p:sp>
      <p:sp>
        <p:nvSpPr>
          <p:cNvPr id="22" name="text-21">
            <a:extLst>
              <a:ext uri="{FF2B5EF4-FFF2-40B4-BE49-F238E27FC236}">
                <a16:creationId xmlns:a16="http://schemas.microsoft.com/office/drawing/2014/main" id="{6D23F17F-C624-40FD-AC60-D80B3C4BF8FF}"/>
              </a:ext>
            </a:extLst>
          </p:cNvPr>
          <p:cNvSpPr>
            <a:spLocks noGrp="1"/>
          </p:cNvSpPr>
          <p:nvPr/>
        </p:nvSpPr>
        <p:spPr>
          <a:xfrm>
            <a:off x="533400" y="5591175"/>
            <a:ext cx="10668000" cy="7905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175" b="0">
                <a:solidFill>
                  <a:srgbClr val="202126"/>
                </a:solidFill>
                <a:latin typeface="Helvetica Neue"/>
                <a:ea typeface="Helvetica Neue"/>
                <a:cs typeface="Helvetica Neue"/>
              </a:defRPr>
            </a:pPr>
            <a:r>
              <a:rPr sz="2175" b="0">
                <a:solidFill>
                  <a:srgbClr val="202126"/>
                </a:solidFill>
                <a:latin typeface="Helvetica Neue"/>
                <a:ea typeface="Helvetica Neue"/>
                <a:cs typeface="Helvetica Neue"/>
              </a:rPr>
              <a:t>RocprofilerTool manages startup, shutdown, and the publication timer.</a:t>
            </a:r>
          </a:p>
          <a:p>
            <a:pPr marL="0" indent="0" algn="l">
              <a:lnSpc>
                <a:spcPct val="110000"/>
              </a:lnSpc>
              <a:spcBef>
                <a:spcPts val="0"/>
              </a:spcBef>
              <a:spcAft>
                <a:spcPts val="0"/>
              </a:spcAft>
              <a:buNone/>
              <a:defRPr sz="2175" b="0">
                <a:solidFill>
                  <a:srgbClr val="202126"/>
                </a:solidFill>
                <a:latin typeface="Helvetica Neue"/>
                <a:ea typeface="Helvetica Neue"/>
                <a:cs typeface="Helvetica Neue"/>
              </a:defRPr>
            </a:pPr>
            <a:r>
              <a:rPr sz="2175" b="0">
                <a:solidFill>
                  <a:srgbClr val="202126"/>
                </a:solidFill>
                <a:latin typeface="Helvetica Neue"/>
                <a:ea typeface="Helvetica Neue"/>
                <a:cs typeface="Helvetica Neue"/>
              </a:rPr>
              <a:t>load_config() selects and validates the active services.</a:t>
            </a:r>
          </a:p>
        </p:txBody>
      </p:sp>
    </p:spTree>
    <p:extLst>
      <p:ext uri="{BB962C8B-B14F-4D97-AF65-F5344CB8AC3E}">
        <p14:creationId xmlns:p14="http://schemas.microsoft.com/office/powerpoint/2010/main" val="3667182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0784E9E7-BD25-493C-A88A-4B9B3A30C148}"/>
              </a:ext>
            </a:extLst>
          </p:cNvPr>
          <p:cNvSpPr>
            <a:spLocks noGrp="1"/>
          </p:cNvSpPr>
          <p:nvPr/>
        </p:nvSpPr>
        <p:spPr>
          <a:xfrm>
            <a:off x="514350" y="419100"/>
            <a:ext cx="11163300" cy="10668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3450" b="1">
                <a:solidFill>
                  <a:srgbClr val="202126"/>
                </a:solidFill>
                <a:latin typeface="Helvetica Neue"/>
                <a:ea typeface="Helvetica Neue"/>
                <a:cs typeface="Helvetica Neue"/>
              </a:defRPr>
            </a:pPr>
            <a:r>
              <a:rPr sz="3450" b="1">
                <a:solidFill>
                  <a:srgbClr val="202126"/>
                </a:solidFill>
                <a:latin typeface="Helvetica Neue"/>
                <a:ea typeface="Helvetica Neue"/>
                <a:cs typeface="Helvetica Neue"/>
              </a:rPr>
              <a:t>One configuration for the shared tool</a:t>
            </a:r>
          </a:p>
        </p:txBody>
      </p:sp>
      <p:sp>
        <p:nvSpPr>
          <p:cNvPr id="2" name="text-1">
            <a:extLst>
              <a:ext uri="{FF2B5EF4-FFF2-40B4-BE49-F238E27FC236}">
                <a16:creationId xmlns:a16="http://schemas.microsoft.com/office/drawing/2014/main" id="{7C754658-9177-4BE7-91EB-37DB999ADB2B}"/>
              </a:ext>
            </a:extLst>
          </p:cNvPr>
          <p:cNvSpPr>
            <a:spLocks noGrp="1"/>
          </p:cNvSpPr>
          <p:nvPr/>
        </p:nvSpPr>
        <p:spPr>
          <a:xfrm>
            <a:off x="11144250" y="6362700"/>
            <a:ext cx="523875" cy="209550"/>
          </a:xfrm>
          <a:prstGeom prst="rect">
            <a:avLst/>
          </a:prstGeom>
          <a:noFill/>
          <a:ln w="0">
            <a:noFill/>
          </a:ln>
        </p:spPr>
        <p:txBody>
          <a:bodyPr wrap="square" lIns="0" tIns="0" rIns="0" bIns="0" anchor="t">
            <a:noAutofit/>
          </a:bodyPr>
          <a:lstStyle/>
          <a:p>
            <a:pPr marL="0" indent="0" algn="r">
              <a:lnSpc>
                <a:spcPct val="110000"/>
              </a:lnSpc>
              <a:spcBef>
                <a:spcPts val="0"/>
              </a:spcBef>
              <a:spcAft>
                <a:spcPts val="0"/>
              </a:spcAft>
              <a:buNone/>
              <a:defRPr sz="1125" b="0">
                <a:solidFill>
                  <a:srgbClr val="60616A"/>
                </a:solidFill>
                <a:latin typeface="Helvetica Neue"/>
                <a:ea typeface="Helvetica Neue"/>
                <a:cs typeface="Helvetica Neue"/>
              </a:defRPr>
            </a:pPr>
            <a:r>
              <a:rPr sz="1125" b="0">
                <a:solidFill>
                  <a:srgbClr val="60616A"/>
                </a:solidFill>
                <a:latin typeface="Helvetica Neue"/>
                <a:ea typeface="Helvetica Neue"/>
                <a:cs typeface="Helvetica Neue"/>
              </a:rPr>
              <a:t>05</a:t>
            </a:r>
          </a:p>
        </p:txBody>
      </p:sp>
      <p:sp>
        <p:nvSpPr>
          <p:cNvPr id="3" name="text-2">
            <a:extLst>
              <a:ext uri="{FF2B5EF4-FFF2-40B4-BE49-F238E27FC236}">
                <a16:creationId xmlns:a16="http://schemas.microsoft.com/office/drawing/2014/main" id="{FD57A8C7-EB13-4E65-AC9F-F2F84CCC632E}"/>
              </a:ext>
            </a:extLst>
          </p:cNvPr>
          <p:cNvSpPr>
            <a:spLocks noGrp="1"/>
          </p:cNvSpPr>
          <p:nvPr/>
        </p:nvSpPr>
        <p:spPr>
          <a:xfrm>
            <a:off x="533400" y="1724025"/>
            <a:ext cx="5619750" cy="4476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325" b="1">
                <a:solidFill>
                  <a:srgbClr val="C52F40"/>
                </a:solidFill>
                <a:latin typeface="Helvetica Neue"/>
                <a:ea typeface="Helvetica Neue"/>
                <a:cs typeface="Helvetica Neue"/>
              </a:defRPr>
            </a:pPr>
            <a:r>
              <a:rPr sz="2325" b="1">
                <a:solidFill>
                  <a:srgbClr val="C52F40"/>
                </a:solidFill>
                <a:latin typeface="Helvetica Neue"/>
                <a:ea typeface="Helvetica Neue"/>
                <a:cs typeface="Helvetica Neue"/>
              </a:rPr>
              <a:t>config/rocprofiler.conf</a:t>
            </a:r>
          </a:p>
        </p:txBody>
      </p:sp>
      <p:sp>
        <p:nvSpPr>
          <p:cNvPr id="4" name="text-3">
            <a:extLst>
              <a:ext uri="{FF2B5EF4-FFF2-40B4-BE49-F238E27FC236}">
                <a16:creationId xmlns:a16="http://schemas.microsoft.com/office/drawing/2014/main" id="{931C6D6D-8CE7-482D-A9E9-5EDA98D2BD23}"/>
              </a:ext>
            </a:extLst>
          </p:cNvPr>
          <p:cNvSpPr>
            <a:spLocks noGrp="1"/>
          </p:cNvSpPr>
          <p:nvPr/>
        </p:nvSpPr>
        <p:spPr>
          <a:xfrm>
            <a:off x="533400" y="2371725"/>
            <a:ext cx="6105525" cy="367665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[tool]</a:t>
            </a:r>
          </a:p>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window_ms = 1000</a:t>
            </a:r>
          </a:p>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max_records_per_message = 256</a:t>
            </a:r>
          </a:p>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output = ldms</a:t>
            </a:r>
          </a:p>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endParaRPr sz="1875" b="0">
              <a:solidFill>
                <a:srgbClr val="202126"/>
              </a:solidFill>
              <a:latin typeface="Helvetica Neue"/>
              <a:ea typeface="Helvetica Neue"/>
              <a:cs typeface="Helvetica Neue"/>
            </a:endParaRPr>
          </a:p>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[device]</a:t>
            </a:r>
          </a:p>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enabled = true</a:t>
            </a:r>
          </a:p>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interval_ms = 200</a:t>
            </a:r>
          </a:p>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agents = 0</a:t>
            </a:r>
          </a:p>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counters = GRBM_COUNT, GRBM_GUI_ACTIVE</a:t>
            </a:r>
          </a:p>
        </p:txBody>
      </p:sp>
      <p:sp>
        <p:nvSpPr>
          <p:cNvPr id="5" name="text-4">
            <a:extLst>
              <a:ext uri="{FF2B5EF4-FFF2-40B4-BE49-F238E27FC236}">
                <a16:creationId xmlns:a16="http://schemas.microsoft.com/office/drawing/2014/main" id="{859ADF95-C0CD-4512-AD06-C3B3D7990BAB}"/>
              </a:ext>
            </a:extLst>
          </p:cNvPr>
          <p:cNvSpPr>
            <a:spLocks noGrp="1"/>
          </p:cNvSpPr>
          <p:nvPr/>
        </p:nvSpPr>
        <p:spPr>
          <a:xfrm>
            <a:off x="7258050" y="1762125"/>
            <a:ext cx="4286250" cy="4286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325" b="1">
                <a:solidFill>
                  <a:srgbClr val="C52F40"/>
                </a:solidFill>
                <a:latin typeface="Helvetica Neue"/>
                <a:ea typeface="Helvetica Neue"/>
                <a:cs typeface="Helvetica Neue"/>
              </a:defRPr>
            </a:pPr>
            <a:r>
              <a:rPr sz="2325" b="1">
                <a:solidFill>
                  <a:srgbClr val="C52F40"/>
                </a:solidFill>
                <a:latin typeface="Helvetica Neue"/>
                <a:ea typeface="Helvetica Neue"/>
                <a:cs typeface="Helvetica Neue"/>
              </a:rPr>
              <a:t>What to collect</a:t>
            </a:r>
          </a:p>
        </p:txBody>
      </p:sp>
      <p:sp>
        <p:nvSpPr>
          <p:cNvPr id="6" name="text-5">
            <a:extLst>
              <a:ext uri="{FF2B5EF4-FFF2-40B4-BE49-F238E27FC236}">
                <a16:creationId xmlns:a16="http://schemas.microsoft.com/office/drawing/2014/main" id="{B04FF544-A607-4B86-8F0A-62954C6046D4}"/>
              </a:ext>
            </a:extLst>
          </p:cNvPr>
          <p:cNvSpPr>
            <a:spLocks noGrp="1"/>
          </p:cNvSpPr>
          <p:nvPr/>
        </p:nvSpPr>
        <p:spPr>
          <a:xfrm>
            <a:off x="7258050" y="2333625"/>
            <a:ext cx="4286250" cy="13811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025" b="0">
                <a:solidFill>
                  <a:srgbClr val="202126"/>
                </a:solidFill>
                <a:latin typeface="Helvetica Neue"/>
                <a:ea typeface="Helvetica Neue"/>
                <a:cs typeface="Helvetica Neue"/>
              </a:defRPr>
            </a:pPr>
            <a:r>
              <a:rPr sz="2025" b="0">
                <a:solidFill>
                  <a:srgbClr val="202126"/>
                </a:solidFill>
                <a:latin typeface="Helvetica Neue"/>
                <a:ea typeface="Helvetica Neue"/>
                <a:cs typeface="Helvetica Neue"/>
              </a:rPr>
              <a:t>Choose PC or device counting.</a:t>
            </a:r>
          </a:p>
          <a:p>
            <a:pPr marL="0" indent="0" algn="l">
              <a:lnSpc>
                <a:spcPct val="110000"/>
              </a:lnSpc>
              <a:spcBef>
                <a:spcPts val="0"/>
              </a:spcBef>
              <a:spcAft>
                <a:spcPts val="0"/>
              </a:spcAft>
              <a:buNone/>
              <a:defRPr sz="2025" b="0">
                <a:solidFill>
                  <a:srgbClr val="202126"/>
                </a:solidFill>
                <a:latin typeface="Helvetica Neue"/>
                <a:ea typeface="Helvetica Neue"/>
                <a:cs typeface="Helvetica Neue"/>
              </a:defRPr>
            </a:pPr>
            <a:r>
              <a:rPr sz="2025" b="0">
                <a:solidFill>
                  <a:srgbClr val="202126"/>
                </a:solidFill>
                <a:latin typeface="Helvetica Neue"/>
                <a:ea typeface="Helvetica Neue"/>
                <a:cs typeface="Helvetica Neue"/>
              </a:rPr>
              <a:t>Add tracing when needed.</a:t>
            </a:r>
          </a:p>
        </p:txBody>
      </p:sp>
      <p:sp>
        <p:nvSpPr>
          <p:cNvPr id="7" name="text-6">
            <a:extLst>
              <a:ext uri="{FF2B5EF4-FFF2-40B4-BE49-F238E27FC236}">
                <a16:creationId xmlns:a16="http://schemas.microsoft.com/office/drawing/2014/main" id="{6CAFD58F-9C43-493B-8BED-B4BE1E66219B}"/>
              </a:ext>
            </a:extLst>
          </p:cNvPr>
          <p:cNvSpPr>
            <a:spLocks noGrp="1"/>
          </p:cNvSpPr>
          <p:nvPr/>
        </p:nvSpPr>
        <p:spPr>
          <a:xfrm>
            <a:off x="7258050" y="3257550"/>
            <a:ext cx="4286250" cy="4286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325" b="1">
                <a:solidFill>
                  <a:srgbClr val="C52F40"/>
                </a:solidFill>
                <a:latin typeface="Helvetica Neue"/>
                <a:ea typeface="Helvetica Neue"/>
                <a:cs typeface="Helvetica Neue"/>
              </a:defRPr>
            </a:pPr>
            <a:r>
              <a:rPr sz="2325" b="1">
                <a:solidFill>
                  <a:srgbClr val="C52F40"/>
                </a:solidFill>
                <a:latin typeface="Helvetica Neue"/>
                <a:ea typeface="Helvetica Neue"/>
                <a:cs typeface="Helvetica Neue"/>
              </a:rPr>
              <a:t>Independent timing controls</a:t>
            </a:r>
          </a:p>
        </p:txBody>
      </p:sp>
      <p:sp>
        <p:nvSpPr>
          <p:cNvPr id="8" name="text-7">
            <a:extLst>
              <a:ext uri="{FF2B5EF4-FFF2-40B4-BE49-F238E27FC236}">
                <a16:creationId xmlns:a16="http://schemas.microsoft.com/office/drawing/2014/main" id="{04319287-720E-4C32-A5EA-F06DDE9C0F33}"/>
              </a:ext>
            </a:extLst>
          </p:cNvPr>
          <p:cNvSpPr>
            <a:spLocks noGrp="1"/>
          </p:cNvSpPr>
          <p:nvPr/>
        </p:nvSpPr>
        <p:spPr>
          <a:xfrm>
            <a:off x="7258050" y="3829050"/>
            <a:ext cx="4286250" cy="13811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025" b="0">
                <a:solidFill>
                  <a:srgbClr val="202126"/>
                </a:solidFill>
                <a:latin typeface="Helvetica Neue"/>
                <a:ea typeface="Helvetica Neue"/>
                <a:cs typeface="Helvetica Neue"/>
              </a:defRPr>
            </a:pPr>
            <a:r>
              <a:rPr sz="2025" b="0">
                <a:solidFill>
                  <a:srgbClr val="202126"/>
                </a:solidFill>
                <a:latin typeface="Helvetica Neue"/>
                <a:ea typeface="Helvetica Neue"/>
                <a:cs typeface="Helvetica Neue"/>
              </a:rPr>
              <a:t>Counter reads and publication</a:t>
            </a:r>
          </a:p>
          <a:p>
            <a:pPr marL="0" indent="0" algn="l">
              <a:lnSpc>
                <a:spcPct val="110000"/>
              </a:lnSpc>
              <a:spcBef>
                <a:spcPts val="0"/>
              </a:spcBef>
              <a:spcAft>
                <a:spcPts val="0"/>
              </a:spcAft>
              <a:buNone/>
              <a:defRPr sz="2025" b="0">
                <a:solidFill>
                  <a:srgbClr val="202126"/>
                </a:solidFill>
                <a:latin typeface="Helvetica Neue"/>
                <a:ea typeface="Helvetica Neue"/>
                <a:cs typeface="Helvetica Neue"/>
              </a:defRPr>
            </a:pPr>
            <a:r>
              <a:rPr sz="2025" b="0">
                <a:solidFill>
                  <a:srgbClr val="202126"/>
                </a:solidFill>
                <a:latin typeface="Helvetica Neue"/>
                <a:ea typeface="Helvetica Neue"/>
                <a:cs typeface="Helvetica Neue"/>
              </a:rPr>
              <a:t>use separate timing settings.</a:t>
            </a:r>
          </a:p>
        </p:txBody>
      </p:sp>
      <p:sp>
        <p:nvSpPr>
          <p:cNvPr id="9" name="text-8">
            <a:extLst>
              <a:ext uri="{FF2B5EF4-FFF2-40B4-BE49-F238E27FC236}">
                <a16:creationId xmlns:a16="http://schemas.microsoft.com/office/drawing/2014/main" id="{47301C83-FBD2-478D-99CA-0581EA407BC6}"/>
              </a:ext>
            </a:extLst>
          </p:cNvPr>
          <p:cNvSpPr>
            <a:spLocks noGrp="1"/>
          </p:cNvSpPr>
          <p:nvPr/>
        </p:nvSpPr>
        <p:spPr>
          <a:xfrm>
            <a:off x="7258050" y="4819650"/>
            <a:ext cx="4286250" cy="4286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325" b="1">
                <a:solidFill>
                  <a:srgbClr val="C52F40"/>
                </a:solidFill>
                <a:latin typeface="Helvetica Neue"/>
                <a:ea typeface="Helvetica Neue"/>
                <a:cs typeface="Helvetica Neue"/>
              </a:defRPr>
            </a:pPr>
            <a:r>
              <a:rPr sz="2325" b="1">
                <a:solidFill>
                  <a:srgbClr val="C52F40"/>
                </a:solidFill>
                <a:latin typeface="Helvetica Neue"/>
                <a:ea typeface="Helvetica Neue"/>
                <a:cs typeface="Helvetica Neue"/>
              </a:rPr>
              <a:t>Compare collection costs</a:t>
            </a:r>
          </a:p>
        </p:txBody>
      </p:sp>
      <p:sp>
        <p:nvSpPr>
          <p:cNvPr id="10" name="text-9">
            <a:extLst>
              <a:ext uri="{FF2B5EF4-FFF2-40B4-BE49-F238E27FC236}">
                <a16:creationId xmlns:a16="http://schemas.microsoft.com/office/drawing/2014/main" id="{87BD23FF-5E60-4DE0-A7C4-776B7B67E909}"/>
              </a:ext>
            </a:extLst>
          </p:cNvPr>
          <p:cNvSpPr>
            <a:spLocks noGrp="1"/>
          </p:cNvSpPr>
          <p:nvPr/>
        </p:nvSpPr>
        <p:spPr>
          <a:xfrm>
            <a:off x="7258050" y="5391150"/>
            <a:ext cx="4286250" cy="9048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025" b="0">
                <a:solidFill>
                  <a:srgbClr val="202126"/>
                </a:solidFill>
                <a:latin typeface="Helvetica Neue"/>
                <a:ea typeface="Helvetica Neue"/>
                <a:cs typeface="Helvetica Neue"/>
              </a:defRPr>
            </a:pPr>
            <a:r>
              <a:rPr sz="2025" b="0">
                <a:solidFill>
                  <a:srgbClr val="202126"/>
                </a:solidFill>
                <a:latin typeface="Helvetica Neue"/>
                <a:ea typeface="Helvetica Neue"/>
                <a:cs typeface="Helvetica Neue"/>
              </a:rPr>
              <a:t>Device output modes:</a:t>
            </a:r>
          </a:p>
          <a:p>
            <a:pPr marL="0" indent="0" algn="l">
              <a:lnSpc>
                <a:spcPct val="110000"/>
              </a:lnSpc>
              <a:spcBef>
                <a:spcPts val="0"/>
              </a:spcBef>
              <a:spcAft>
                <a:spcPts val="0"/>
              </a:spcAft>
              <a:buNone/>
              <a:defRPr sz="2025" b="0">
                <a:solidFill>
                  <a:srgbClr val="202126"/>
                </a:solidFill>
                <a:latin typeface="Helvetica Neue"/>
                <a:ea typeface="Helvetica Neue"/>
                <a:cs typeface="Helvetica Neue"/>
              </a:defRPr>
            </a:pPr>
            <a:r>
              <a:rPr sz="2025" b="0">
                <a:solidFill>
                  <a:srgbClr val="202126"/>
                </a:solidFill>
                <a:latin typeface="Helvetica Neue"/>
                <a:ea typeface="Helvetica Neue"/>
                <a:cs typeface="Helvetica Neue"/>
              </a:rPr>
              <a:t>discard, serialize, full LDMS.</a:t>
            </a:r>
          </a:p>
        </p:txBody>
      </p:sp>
    </p:spTree>
    <p:extLst>
      <p:ext uri="{BB962C8B-B14F-4D97-AF65-F5344CB8AC3E}">
        <p14:creationId xmlns:p14="http://schemas.microsoft.com/office/powerpoint/2010/main" val="3667182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191E"/>
        </a:solidFill>
        <a:effectLst/>
      </p:bgPr>
    </p:bg>
    <p:spTree>
      <p:nvGrpSpPr>
        <p:cNvPr id="1" name=""/>
        <p:cNvGrpSpPr/>
        <p:nvPr/>
      </p:nvGrpSpPr>
      <p:grpSpPr>
        <a:xfrm>
          <a:off x="0" y="0"/>
          <a:ext cx="0" cy="0"/>
          <a:chOff x="0" y="0"/>
          <a:chExt cx="0" cy="0"/>
        </a:xfrm>
      </p:grpSpPr>
      <p:sp>
        <p:nvSpPr>
          <p:cNvPr id="16" name="text-0">
            <a:extLst>
              <a:ext uri="{FF2B5EF4-FFF2-40B4-BE49-F238E27FC236}">
                <a16:creationId xmlns:a16="http://schemas.microsoft.com/office/drawing/2014/main" id="{3ED1C1A5-6417-48EA-8327-B35BB06EFD01}"/>
              </a:ext>
            </a:extLst>
          </p:cNvPr>
          <p:cNvSpPr>
            <a:spLocks noGrp="1"/>
          </p:cNvSpPr>
          <p:nvPr/>
        </p:nvSpPr>
        <p:spPr>
          <a:xfrm>
            <a:off x="514350" y="419100"/>
            <a:ext cx="11163300" cy="10668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A shared window for raw records</a:t>
            </a:r>
          </a:p>
        </p:txBody>
      </p:sp>
      <p:sp>
        <p:nvSpPr>
          <p:cNvPr id="2" name="text-1">
            <a:extLst>
              <a:ext uri="{FF2B5EF4-FFF2-40B4-BE49-F238E27FC236}">
                <a16:creationId xmlns:a16="http://schemas.microsoft.com/office/drawing/2014/main" id="{068813D7-4194-4FB2-9735-50A67EF7D1FE}"/>
              </a:ext>
            </a:extLst>
          </p:cNvPr>
          <p:cNvSpPr>
            <a:spLocks noGrp="1"/>
          </p:cNvSpPr>
          <p:nvPr/>
        </p:nvSpPr>
        <p:spPr>
          <a:xfrm>
            <a:off x="11144250" y="6362700"/>
            <a:ext cx="523875" cy="209550"/>
          </a:xfrm>
          <a:prstGeom prst="rect">
            <a:avLst/>
          </a:prstGeom>
          <a:noFill/>
          <a:ln w="0">
            <a:noFill/>
          </a:ln>
        </p:spPr>
        <p:txBody>
          <a:bodyPr wrap="square" lIns="0" tIns="0" rIns="0" bIns="0" anchor="t">
            <a:noAutofit/>
          </a:bodyPr>
          <a:lstStyle/>
          <a:p>
            <a:pPr marL="0" indent="0" algn="r">
              <a:lnSpc>
                <a:spcPct val="110000"/>
              </a:lnSpc>
              <a:spcBef>
                <a:spcPts val="0"/>
              </a:spcBef>
              <a:spcAft>
                <a:spcPts val="0"/>
              </a:spcAft>
              <a:buNone/>
              <a:defRPr sz="1125" b="0">
                <a:solidFill>
                  <a:srgbClr val="BFC2CA"/>
                </a:solidFill>
                <a:latin typeface="Helvetica Neue"/>
                <a:ea typeface="Helvetica Neue"/>
                <a:cs typeface="Helvetica Neue"/>
              </a:defRPr>
            </a:pPr>
            <a:r>
              <a:rPr sz="1125" b="0">
                <a:solidFill>
                  <a:srgbClr val="BFC2CA"/>
                </a:solidFill>
                <a:latin typeface="Helvetica Neue"/>
                <a:ea typeface="Helvetica Neue"/>
                <a:cs typeface="Helvetica Neue"/>
              </a:rPr>
              <a:t>06</a:t>
            </a:r>
          </a:p>
        </p:txBody>
      </p:sp>
      <p:sp>
        <p:nvSpPr>
          <p:cNvPr id="3" name="text-2">
            <a:extLst>
              <a:ext uri="{FF2B5EF4-FFF2-40B4-BE49-F238E27FC236}">
                <a16:creationId xmlns:a16="http://schemas.microsoft.com/office/drawing/2014/main" id="{1AB5A484-BC38-4F9A-A154-343924CEBA5E}"/>
              </a:ext>
            </a:extLst>
          </p:cNvPr>
          <p:cNvSpPr>
            <a:spLocks noGrp="1"/>
          </p:cNvSpPr>
          <p:nvPr/>
        </p:nvSpPr>
        <p:spPr>
          <a:xfrm>
            <a:off x="533400" y="1924050"/>
            <a:ext cx="3152775" cy="7715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4650" b="1">
                <a:solidFill>
                  <a:srgbClr val="FF6B72"/>
                </a:solidFill>
                <a:latin typeface="Helvetica Neue"/>
                <a:ea typeface="Helvetica Neue"/>
                <a:cs typeface="Helvetica Neue"/>
              </a:defRPr>
            </a:pPr>
            <a:r>
              <a:rPr sz="4650" b="1">
                <a:solidFill>
                  <a:srgbClr val="FF6B72"/>
                </a:solidFill>
                <a:latin typeface="Helvetica Neue"/>
                <a:ea typeface="Helvetica Neue"/>
                <a:cs typeface="Helvetica Neue"/>
              </a:rPr>
              <a:t>01</a:t>
            </a:r>
          </a:p>
        </p:txBody>
      </p:sp>
      <p:sp>
        <p:nvSpPr>
          <p:cNvPr id="4" name="text-3">
            <a:extLst>
              <a:ext uri="{FF2B5EF4-FFF2-40B4-BE49-F238E27FC236}">
                <a16:creationId xmlns:a16="http://schemas.microsoft.com/office/drawing/2014/main" id="{434F6F19-FAE3-4067-902A-CCB1664A0A9E}"/>
              </a:ext>
            </a:extLst>
          </p:cNvPr>
          <p:cNvSpPr>
            <a:spLocks noGrp="1"/>
          </p:cNvSpPr>
          <p:nvPr/>
        </p:nvSpPr>
        <p:spPr>
          <a:xfrm>
            <a:off x="533400" y="2847975"/>
            <a:ext cx="3152775" cy="5238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Add</a:t>
            </a:r>
          </a:p>
        </p:txBody>
      </p:sp>
      <p:sp>
        <p:nvSpPr>
          <p:cNvPr id="5" name="text-4">
            <a:extLst>
              <a:ext uri="{FF2B5EF4-FFF2-40B4-BE49-F238E27FC236}">
                <a16:creationId xmlns:a16="http://schemas.microsoft.com/office/drawing/2014/main" id="{10F4EFFF-7780-41DA-B4E7-62E2473E728D}"/>
              </a:ext>
            </a:extLst>
          </p:cNvPr>
          <p:cNvSpPr>
            <a:spLocks noGrp="1"/>
          </p:cNvSpPr>
          <p:nvPr/>
        </p:nvSpPr>
        <p:spPr>
          <a:xfrm>
            <a:off x="533400" y="3571875"/>
            <a:ext cx="3152775" cy="9810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Store each decoded record</a:t>
            </a:r>
          </a:p>
          <a:p>
            <a:pPr marL="0" indent="0" algn="l">
              <a:lnSpc>
                <a:spcPct val="110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in the active vector.</a:t>
            </a:r>
          </a:p>
        </p:txBody>
      </p:sp>
      <p:sp>
        <p:nvSpPr>
          <p:cNvPr id="6" name="text-5">
            <a:extLst>
              <a:ext uri="{FF2B5EF4-FFF2-40B4-BE49-F238E27FC236}">
                <a16:creationId xmlns:a16="http://schemas.microsoft.com/office/drawing/2014/main" id="{0BFA964F-4F3B-4349-8192-08CF5F0CA725}"/>
              </a:ext>
            </a:extLst>
          </p:cNvPr>
          <p:cNvSpPr>
            <a:spLocks noGrp="1"/>
          </p:cNvSpPr>
          <p:nvPr/>
        </p:nvSpPr>
        <p:spPr>
          <a:xfrm>
            <a:off x="4533900" y="1924050"/>
            <a:ext cx="3152775" cy="7715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4650" b="1">
                <a:solidFill>
                  <a:srgbClr val="FF6B72"/>
                </a:solidFill>
                <a:latin typeface="Helvetica Neue"/>
                <a:ea typeface="Helvetica Neue"/>
                <a:cs typeface="Helvetica Neue"/>
              </a:defRPr>
            </a:pPr>
            <a:r>
              <a:rPr sz="4650" b="1">
                <a:solidFill>
                  <a:srgbClr val="FF6B72"/>
                </a:solidFill>
                <a:latin typeface="Helvetica Neue"/>
                <a:ea typeface="Helvetica Neue"/>
                <a:cs typeface="Helvetica Neue"/>
              </a:rPr>
              <a:t>02</a:t>
            </a:r>
          </a:p>
        </p:txBody>
      </p:sp>
      <p:sp>
        <p:nvSpPr>
          <p:cNvPr id="7" name="text-6">
            <a:extLst>
              <a:ext uri="{FF2B5EF4-FFF2-40B4-BE49-F238E27FC236}">
                <a16:creationId xmlns:a16="http://schemas.microsoft.com/office/drawing/2014/main" id="{D699D329-28DB-4182-BAD7-F3B354129D35}"/>
              </a:ext>
            </a:extLst>
          </p:cNvPr>
          <p:cNvSpPr>
            <a:spLocks noGrp="1"/>
          </p:cNvSpPr>
          <p:nvPr/>
        </p:nvSpPr>
        <p:spPr>
          <a:xfrm>
            <a:off x="4533900" y="2847975"/>
            <a:ext cx="3152775" cy="5238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Rotate</a:t>
            </a:r>
          </a:p>
        </p:txBody>
      </p:sp>
      <p:sp>
        <p:nvSpPr>
          <p:cNvPr id="8" name="text-7">
            <a:extLst>
              <a:ext uri="{FF2B5EF4-FFF2-40B4-BE49-F238E27FC236}">
                <a16:creationId xmlns:a16="http://schemas.microsoft.com/office/drawing/2014/main" id="{D0F783D5-3BAA-4193-9F49-9D0FB46FFA55}"/>
              </a:ext>
            </a:extLst>
          </p:cNvPr>
          <p:cNvSpPr>
            <a:spLocks noGrp="1"/>
          </p:cNvSpPr>
          <p:nvPr/>
        </p:nvSpPr>
        <p:spPr>
          <a:xfrm>
            <a:off x="4533900" y="3571875"/>
            <a:ext cx="3152775" cy="9810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Move the records into a</a:t>
            </a:r>
          </a:p>
          <a:p>
            <a:pPr marL="0" indent="0" algn="l">
              <a:lnSpc>
                <a:spcPct val="110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separate batch.</a:t>
            </a:r>
          </a:p>
        </p:txBody>
      </p:sp>
      <p:sp>
        <p:nvSpPr>
          <p:cNvPr id="9" name="text-8">
            <a:extLst>
              <a:ext uri="{FF2B5EF4-FFF2-40B4-BE49-F238E27FC236}">
                <a16:creationId xmlns:a16="http://schemas.microsoft.com/office/drawing/2014/main" id="{74036668-2748-4249-B557-30B4C8132F9B}"/>
              </a:ext>
            </a:extLst>
          </p:cNvPr>
          <p:cNvSpPr>
            <a:spLocks noGrp="1"/>
          </p:cNvSpPr>
          <p:nvPr/>
        </p:nvSpPr>
        <p:spPr>
          <a:xfrm>
            <a:off x="8534400" y="1924050"/>
            <a:ext cx="3143250" cy="77152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4650" b="1">
                <a:solidFill>
                  <a:srgbClr val="FF6B72"/>
                </a:solidFill>
                <a:latin typeface="Helvetica Neue"/>
                <a:ea typeface="Helvetica Neue"/>
                <a:cs typeface="Helvetica Neue"/>
              </a:defRPr>
            </a:pPr>
            <a:r>
              <a:rPr sz="4650" b="1">
                <a:solidFill>
                  <a:srgbClr val="FF6B72"/>
                </a:solidFill>
                <a:latin typeface="Helvetica Neue"/>
                <a:ea typeface="Helvetica Neue"/>
                <a:cs typeface="Helvetica Neue"/>
              </a:rPr>
              <a:t>03</a:t>
            </a:r>
          </a:p>
        </p:txBody>
      </p:sp>
      <p:sp>
        <p:nvSpPr>
          <p:cNvPr id="10" name="text-9">
            <a:extLst>
              <a:ext uri="{FF2B5EF4-FFF2-40B4-BE49-F238E27FC236}">
                <a16:creationId xmlns:a16="http://schemas.microsoft.com/office/drawing/2014/main" id="{E4E4B996-F1DE-4C93-935E-01A40F4BE808}"/>
              </a:ext>
            </a:extLst>
          </p:cNvPr>
          <p:cNvSpPr>
            <a:spLocks noGrp="1"/>
          </p:cNvSpPr>
          <p:nvPr/>
        </p:nvSpPr>
        <p:spPr>
          <a:xfrm>
            <a:off x="8534400" y="2847975"/>
            <a:ext cx="3143250" cy="5238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Publish</a:t>
            </a:r>
          </a:p>
        </p:txBody>
      </p:sp>
      <p:sp>
        <p:nvSpPr>
          <p:cNvPr id="11" name="text-10">
            <a:extLst>
              <a:ext uri="{FF2B5EF4-FFF2-40B4-BE49-F238E27FC236}">
                <a16:creationId xmlns:a16="http://schemas.microsoft.com/office/drawing/2014/main" id="{A0DF8764-EBF4-4696-8721-3CC7C2DC5474}"/>
              </a:ext>
            </a:extLst>
          </p:cNvPr>
          <p:cNvSpPr>
            <a:spLocks noGrp="1"/>
          </p:cNvSpPr>
          <p:nvPr/>
        </p:nvSpPr>
        <p:spPr>
          <a:xfrm>
            <a:off x="8534400" y="3571875"/>
            <a:ext cx="3143250" cy="9810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Format the batch as JSON</a:t>
            </a:r>
          </a:p>
          <a:p>
            <a:pPr marL="0" indent="0" algn="l">
              <a:lnSpc>
                <a:spcPct val="110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after releasing the lock.</a:t>
            </a:r>
          </a:p>
        </p:txBody>
      </p:sp>
      <p:cxnSp>
        <p:nvCxnSpPr>
          <p:cNvPr id="66" name="Straight Arrow Connector 65"/>
          <p:cNvCxnSpPr>
            <a:stCxn id="4" idx="3"/>
            <a:endCxn id="7" idx="1"/>
          </p:cNvCxnSpPr>
          <p:nvPr/>
        </p:nvCxnSpPr>
        <p:spPr>
          <a:xfrm>
            <a:off x="3686175" y="3109913"/>
            <a:ext cx="847725" cy="0"/>
          </a:xfrm>
          <a:prstGeom prst="straightConnector1">
            <a:avLst/>
          </a:prstGeom>
          <a:ln w="20955">
            <a:solidFill>
              <a:srgbClr val="FF6B72"/>
            </a:solidFill>
            <a:tailEnd type="arrow" w="med" len="med"/>
          </a:ln>
        </p:spPr>
      </p:cxnSp>
      <p:cxnSp>
        <p:nvCxnSpPr>
          <p:cNvPr id="67" name="Straight Arrow Connector 66"/>
          <p:cNvCxnSpPr>
            <a:stCxn id="7" idx="3"/>
            <a:endCxn id="10" idx="1"/>
          </p:cNvCxnSpPr>
          <p:nvPr/>
        </p:nvCxnSpPr>
        <p:spPr>
          <a:xfrm>
            <a:off x="7686675" y="3109913"/>
            <a:ext cx="847725" cy="0"/>
          </a:xfrm>
          <a:prstGeom prst="straightConnector1">
            <a:avLst/>
          </a:prstGeom>
          <a:ln w="20955">
            <a:solidFill>
              <a:srgbClr val="FF6B72"/>
            </a:solidFill>
            <a:tailEnd type="arrow" w="med" len="med"/>
          </a:ln>
        </p:spPr>
      </p:cxnSp>
      <p:sp>
        <p:nvSpPr>
          <p:cNvPr id="14" name="text-13">
            <a:extLst>
              <a:ext uri="{FF2B5EF4-FFF2-40B4-BE49-F238E27FC236}">
                <a16:creationId xmlns:a16="http://schemas.microsoft.com/office/drawing/2014/main" id="{81F773A3-51ED-4984-8FC8-B7D68A9DD32D}"/>
              </a:ext>
            </a:extLst>
          </p:cNvPr>
          <p:cNvSpPr>
            <a:spLocks noGrp="1"/>
          </p:cNvSpPr>
          <p:nvPr/>
        </p:nvSpPr>
        <p:spPr>
          <a:xfrm>
            <a:off x="533400" y="5019675"/>
            <a:ext cx="11049000" cy="59055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775" b="0">
                <a:solidFill>
                  <a:srgbClr val="FF6B72"/>
                </a:solidFill>
                <a:latin typeface="Helvetica Neue"/>
                <a:ea typeface="Helvetica Neue"/>
                <a:cs typeface="Helvetica Neue"/>
              </a:defRPr>
            </a:pPr>
            <a:r>
              <a:rPr sz="2775" b="0">
                <a:solidFill>
                  <a:srgbClr val="FF6B72"/>
                </a:solidFill>
                <a:latin typeface="Helvetica Neue"/>
                <a:ea typeface="Helvetica Neue"/>
                <a:cs typeface="Helvetica Neue"/>
              </a:rPr>
              <a:t>snapshot.records.swap(records_);</a:t>
            </a:r>
          </a:p>
        </p:txBody>
      </p:sp>
      <p:sp>
        <p:nvSpPr>
          <p:cNvPr id="15" name="text-14">
            <a:extLst>
              <a:ext uri="{FF2B5EF4-FFF2-40B4-BE49-F238E27FC236}">
                <a16:creationId xmlns:a16="http://schemas.microsoft.com/office/drawing/2014/main" id="{527DE14A-F6B2-465B-9302-F1C0DAE31952}"/>
              </a:ext>
            </a:extLst>
          </p:cNvPr>
          <p:cNvSpPr>
            <a:spLocks noGrp="1"/>
          </p:cNvSpPr>
          <p:nvPr/>
        </p:nvSpPr>
        <p:spPr>
          <a:xfrm>
            <a:off x="533400" y="5715000"/>
            <a:ext cx="10620375" cy="66675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025" b="0">
                <a:solidFill>
                  <a:srgbClr val="BFC2CA"/>
                </a:solidFill>
                <a:latin typeface="Helvetica Neue"/>
                <a:ea typeface="Helvetica Neue"/>
                <a:cs typeface="Helvetica Neue"/>
              </a:defRPr>
            </a:pPr>
            <a:r>
              <a:rPr sz="2025" b="0">
                <a:solidFill>
                  <a:srgbClr val="BFC2CA"/>
                </a:solidFill>
                <a:latin typeface="Helvetica Neue"/>
                <a:ea typeface="Helvetica Neue"/>
                <a:cs typeface="Helvetica Neue"/>
              </a:rPr>
              <a:t>The record timestamp describes the observation.</a:t>
            </a:r>
          </a:p>
          <a:p>
            <a:pPr marL="0" indent="0" algn="l">
              <a:lnSpc>
                <a:spcPct val="110000"/>
              </a:lnSpc>
              <a:spcBef>
                <a:spcPts val="0"/>
              </a:spcBef>
              <a:spcAft>
                <a:spcPts val="0"/>
              </a:spcAft>
              <a:buNone/>
              <a:defRPr sz="2025" b="0">
                <a:solidFill>
                  <a:srgbClr val="BFC2CA"/>
                </a:solidFill>
                <a:latin typeface="Helvetica Neue"/>
                <a:ea typeface="Helvetica Neue"/>
                <a:cs typeface="Helvetica Neue"/>
              </a:defRPr>
            </a:pPr>
            <a:r>
              <a:rPr sz="2025" b="0">
                <a:solidFill>
                  <a:srgbClr val="BFC2CA"/>
                </a:solidFill>
                <a:latin typeface="Helvetica Neue"/>
                <a:ea typeface="Helvetica Neue"/>
                <a:cs typeface="Helvetica Neue"/>
              </a:rPr>
              <a:t>The window timestamp describes publication batching.</a:t>
            </a:r>
          </a:p>
        </p:txBody>
      </p:sp>
    </p:spTree>
    <p:extLst>
      <p:ext uri="{BB962C8B-B14F-4D97-AF65-F5344CB8AC3E}">
        <p14:creationId xmlns:p14="http://schemas.microsoft.com/office/powerpoint/2010/main" val="3667182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5" name="text-0">
            <a:extLst>
              <a:ext uri="{FF2B5EF4-FFF2-40B4-BE49-F238E27FC236}">
                <a16:creationId xmlns:a16="http://schemas.microsoft.com/office/drawing/2014/main" id="{482CD7B0-B424-4794-98CC-2F434E0863D5}"/>
              </a:ext>
            </a:extLst>
          </p:cNvPr>
          <p:cNvSpPr>
            <a:spLocks noGrp="1"/>
          </p:cNvSpPr>
          <p:nvPr/>
        </p:nvSpPr>
        <p:spPr>
          <a:xfrm>
            <a:off x="514350" y="419100"/>
            <a:ext cx="11163300" cy="10668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3450" b="1">
                <a:solidFill>
                  <a:srgbClr val="202126"/>
                </a:solidFill>
                <a:latin typeface="Helvetica Neue"/>
                <a:ea typeface="Helvetica Neue"/>
                <a:cs typeface="Helvetica Neue"/>
              </a:defRPr>
            </a:pPr>
            <a:r>
              <a:rPr sz="3450" b="1">
                <a:solidFill>
                  <a:srgbClr val="202126"/>
                </a:solidFill>
                <a:latin typeface="Helvetica Neue"/>
                <a:ea typeface="Helvetica Neue"/>
                <a:cs typeface="Helvetica Neue"/>
              </a:rPr>
              <a:t>Repeatable performance tests are in progress</a:t>
            </a:r>
          </a:p>
        </p:txBody>
      </p:sp>
      <p:sp>
        <p:nvSpPr>
          <p:cNvPr id="2" name="text-1">
            <a:extLst>
              <a:ext uri="{FF2B5EF4-FFF2-40B4-BE49-F238E27FC236}">
                <a16:creationId xmlns:a16="http://schemas.microsoft.com/office/drawing/2014/main" id="{C4DB3A56-1AD9-426E-B0A0-7663AD23E8D3}"/>
              </a:ext>
            </a:extLst>
          </p:cNvPr>
          <p:cNvSpPr>
            <a:spLocks noGrp="1"/>
          </p:cNvSpPr>
          <p:nvPr/>
        </p:nvSpPr>
        <p:spPr>
          <a:xfrm>
            <a:off x="11144250" y="6362700"/>
            <a:ext cx="523875" cy="209550"/>
          </a:xfrm>
          <a:prstGeom prst="rect">
            <a:avLst/>
          </a:prstGeom>
          <a:noFill/>
          <a:ln w="0">
            <a:noFill/>
          </a:ln>
        </p:spPr>
        <p:txBody>
          <a:bodyPr wrap="square" lIns="0" tIns="0" rIns="0" bIns="0" anchor="t">
            <a:noAutofit/>
          </a:bodyPr>
          <a:lstStyle/>
          <a:p>
            <a:pPr marL="0" indent="0" algn="r">
              <a:lnSpc>
                <a:spcPct val="110000"/>
              </a:lnSpc>
              <a:spcBef>
                <a:spcPts val="0"/>
              </a:spcBef>
              <a:spcAft>
                <a:spcPts val="0"/>
              </a:spcAft>
              <a:buNone/>
              <a:defRPr sz="1125" b="0">
                <a:solidFill>
                  <a:srgbClr val="60616A"/>
                </a:solidFill>
                <a:latin typeface="Helvetica Neue"/>
                <a:ea typeface="Helvetica Neue"/>
                <a:cs typeface="Helvetica Neue"/>
              </a:defRPr>
            </a:pPr>
            <a:r>
              <a:rPr sz="1125" b="0">
                <a:solidFill>
                  <a:srgbClr val="60616A"/>
                </a:solidFill>
                <a:latin typeface="Helvetica Neue"/>
                <a:ea typeface="Helvetica Neue"/>
                <a:cs typeface="Helvetica Neue"/>
              </a:rPr>
              <a:t>07</a:t>
            </a:r>
          </a:p>
        </p:txBody>
      </p:sp>
      <p:sp>
        <p:nvSpPr>
          <p:cNvPr id="3" name="text-2">
            <a:extLst>
              <a:ext uri="{FF2B5EF4-FFF2-40B4-BE49-F238E27FC236}">
                <a16:creationId xmlns:a16="http://schemas.microsoft.com/office/drawing/2014/main" id="{DD69DD17-66D8-45A4-B6B6-3BDD23455879}"/>
              </a:ext>
            </a:extLst>
          </p:cNvPr>
          <p:cNvSpPr>
            <a:spLocks noGrp="1"/>
          </p:cNvSpPr>
          <p:nvPr/>
        </p:nvSpPr>
        <p:spPr>
          <a:xfrm>
            <a:off x="533400" y="1724025"/>
            <a:ext cx="2714625"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175" b="1">
                <a:solidFill>
                  <a:srgbClr val="C52F40"/>
                </a:solidFill>
                <a:latin typeface="Helvetica Neue"/>
                <a:ea typeface="Helvetica Neue"/>
                <a:cs typeface="Helvetica Neue"/>
              </a:defRPr>
            </a:pPr>
            <a:r>
              <a:rPr sz="2175" b="1">
                <a:solidFill>
                  <a:srgbClr val="C52F40"/>
                </a:solidFill>
                <a:latin typeface="Helvetica Neue"/>
                <a:ea typeface="Helvetica Neue"/>
                <a:cs typeface="Helvetica Neue"/>
              </a:rPr>
              <a:t>Record each run</a:t>
            </a:r>
          </a:p>
        </p:txBody>
      </p:sp>
      <p:sp>
        <p:nvSpPr>
          <p:cNvPr id="4" name="text-3">
            <a:extLst>
              <a:ext uri="{FF2B5EF4-FFF2-40B4-BE49-F238E27FC236}">
                <a16:creationId xmlns:a16="http://schemas.microsoft.com/office/drawing/2014/main" id="{A23A3E4D-C973-4FCA-8B8B-BEA28981477E}"/>
              </a:ext>
            </a:extLst>
          </p:cNvPr>
          <p:cNvSpPr>
            <a:spLocks noGrp="1"/>
          </p:cNvSpPr>
          <p:nvPr/>
        </p:nvSpPr>
        <p:spPr>
          <a:xfrm>
            <a:off x="3676650" y="1724025"/>
            <a:ext cx="7972425" cy="4476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175" b="1">
                <a:solidFill>
                  <a:srgbClr val="202126"/>
                </a:solidFill>
                <a:latin typeface="Helvetica Neue"/>
                <a:ea typeface="Helvetica Neue"/>
                <a:cs typeface="Helvetica Neue"/>
              </a:defRPr>
            </a:pPr>
            <a:r>
              <a:rPr sz="2175" b="1">
                <a:solidFill>
                  <a:srgbClr val="202126"/>
                </a:solidFill>
                <a:latin typeface="Helvetica Neue"/>
                <a:ea typeface="Helvetica Neue"/>
                <a:cs typeface="Helvetica Neue"/>
              </a:rPr>
              <a:t>bench.py</a:t>
            </a:r>
          </a:p>
        </p:txBody>
      </p:sp>
      <p:sp>
        <p:nvSpPr>
          <p:cNvPr id="5" name="text-4">
            <a:extLst>
              <a:ext uri="{FF2B5EF4-FFF2-40B4-BE49-F238E27FC236}">
                <a16:creationId xmlns:a16="http://schemas.microsoft.com/office/drawing/2014/main" id="{50463F99-1224-4C63-827E-1F1052218BB2}"/>
              </a:ext>
            </a:extLst>
          </p:cNvPr>
          <p:cNvSpPr>
            <a:spLocks noGrp="1"/>
          </p:cNvSpPr>
          <p:nvPr/>
        </p:nvSpPr>
        <p:spPr>
          <a:xfrm>
            <a:off x="3676650" y="2181225"/>
            <a:ext cx="7972425"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Save commands, settings, logs, and run times</a:t>
            </a:r>
          </a:p>
        </p:txBody>
      </p:sp>
      <p:sp>
        <p:nvSpPr>
          <p:cNvPr id="6" name="text-5">
            <a:extLst>
              <a:ext uri="{FF2B5EF4-FFF2-40B4-BE49-F238E27FC236}">
                <a16:creationId xmlns:a16="http://schemas.microsoft.com/office/drawing/2014/main" id="{64BB45B9-64F1-48E9-9EB8-D7E5AC5C4298}"/>
              </a:ext>
            </a:extLst>
          </p:cNvPr>
          <p:cNvSpPr>
            <a:spLocks noGrp="1"/>
          </p:cNvSpPr>
          <p:nvPr/>
        </p:nvSpPr>
        <p:spPr>
          <a:xfrm>
            <a:off x="533400" y="2809875"/>
            <a:ext cx="2714625"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175" b="1">
                <a:solidFill>
                  <a:srgbClr val="C52F40"/>
                </a:solidFill>
                <a:latin typeface="Helvetica Neue"/>
                <a:ea typeface="Helvetica Neue"/>
                <a:cs typeface="Helvetica Neue"/>
              </a:defRPr>
            </a:pPr>
            <a:r>
              <a:rPr sz="2175" b="1">
                <a:solidFill>
                  <a:srgbClr val="C52F40"/>
                </a:solidFill>
                <a:latin typeface="Helvetica Neue"/>
                <a:ea typeface="Helvetica Neue"/>
                <a:cs typeface="Helvetica Neue"/>
              </a:rPr>
              <a:t>Compare equal work</a:t>
            </a:r>
          </a:p>
        </p:txBody>
      </p:sp>
      <p:sp>
        <p:nvSpPr>
          <p:cNvPr id="7" name="text-6">
            <a:extLst>
              <a:ext uri="{FF2B5EF4-FFF2-40B4-BE49-F238E27FC236}">
                <a16:creationId xmlns:a16="http://schemas.microsoft.com/office/drawing/2014/main" id="{CC03D2B5-43F2-4760-A05F-B1F88DC5646D}"/>
              </a:ext>
            </a:extLst>
          </p:cNvPr>
          <p:cNvSpPr>
            <a:spLocks noGrp="1"/>
          </p:cNvSpPr>
          <p:nvPr/>
        </p:nvSpPr>
        <p:spPr>
          <a:xfrm>
            <a:off x="3676650" y="2809875"/>
            <a:ext cx="7972425" cy="4476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175" b="1">
                <a:solidFill>
                  <a:srgbClr val="202126"/>
                </a:solidFill>
                <a:latin typeface="Helvetica Neue"/>
                <a:ea typeface="Helvetica Neue"/>
                <a:cs typeface="Helvetica Neue"/>
              </a:defRPr>
            </a:pPr>
            <a:r>
              <a:rPr sz="2175" b="1">
                <a:solidFill>
                  <a:srgbClr val="202126"/>
                </a:solidFill>
                <a:latin typeface="Helvetica Neue"/>
                <a:ea typeface="Helvetica Neue"/>
                <a:cs typeface="Helvetica Neue"/>
              </a:rPr>
              <a:t>study.py + sustained.cpp</a:t>
            </a:r>
          </a:p>
        </p:txBody>
      </p:sp>
      <p:sp>
        <p:nvSpPr>
          <p:cNvPr id="8" name="text-7">
            <a:extLst>
              <a:ext uri="{FF2B5EF4-FFF2-40B4-BE49-F238E27FC236}">
                <a16:creationId xmlns:a16="http://schemas.microsoft.com/office/drawing/2014/main" id="{88E27838-BF46-40F4-879A-2B617926B166}"/>
              </a:ext>
            </a:extLst>
          </p:cNvPr>
          <p:cNvSpPr>
            <a:spLocks noGrp="1"/>
          </p:cNvSpPr>
          <p:nvPr/>
        </p:nvSpPr>
        <p:spPr>
          <a:xfrm>
            <a:off x="3676650" y="3267075"/>
            <a:ext cx="7972425"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Run the same work with profiling off and on</a:t>
            </a:r>
          </a:p>
        </p:txBody>
      </p:sp>
      <p:sp>
        <p:nvSpPr>
          <p:cNvPr id="9" name="text-8">
            <a:extLst>
              <a:ext uri="{FF2B5EF4-FFF2-40B4-BE49-F238E27FC236}">
                <a16:creationId xmlns:a16="http://schemas.microsoft.com/office/drawing/2014/main" id="{472B682E-6D0A-4CD6-92D7-1251F8F54BB1}"/>
              </a:ext>
            </a:extLst>
          </p:cNvPr>
          <p:cNvSpPr>
            <a:spLocks noGrp="1"/>
          </p:cNvSpPr>
          <p:nvPr/>
        </p:nvSpPr>
        <p:spPr>
          <a:xfrm>
            <a:off x="533400" y="3895725"/>
            <a:ext cx="2714625"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175" b="1">
                <a:solidFill>
                  <a:srgbClr val="C52F40"/>
                </a:solidFill>
                <a:latin typeface="Helvetica Neue"/>
                <a:ea typeface="Helvetica Neue"/>
                <a:cs typeface="Helvetica Neue"/>
              </a:defRPr>
            </a:pPr>
            <a:r>
              <a:rPr sz="2175" b="1">
                <a:solidFill>
                  <a:srgbClr val="C52F40"/>
                </a:solidFill>
                <a:latin typeface="Helvetica Neue"/>
                <a:ea typeface="Helvetica Neue"/>
                <a:cs typeface="Helvetica Neue"/>
              </a:rPr>
              <a:t>Test longer runs</a:t>
            </a:r>
          </a:p>
        </p:txBody>
      </p:sp>
      <p:sp>
        <p:nvSpPr>
          <p:cNvPr id="10" name="text-9">
            <a:extLst>
              <a:ext uri="{FF2B5EF4-FFF2-40B4-BE49-F238E27FC236}">
                <a16:creationId xmlns:a16="http://schemas.microsoft.com/office/drawing/2014/main" id="{7D07310D-FD7F-4A21-AC1C-6447CF9521DD}"/>
              </a:ext>
            </a:extLst>
          </p:cNvPr>
          <p:cNvSpPr>
            <a:spLocks noGrp="1"/>
          </p:cNvSpPr>
          <p:nvPr/>
        </p:nvSpPr>
        <p:spPr>
          <a:xfrm>
            <a:off x="3676650" y="3895725"/>
            <a:ext cx="7972425" cy="4476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175" b="1">
                <a:solidFill>
                  <a:srgbClr val="202126"/>
                </a:solidFill>
                <a:latin typeface="Helvetica Neue"/>
                <a:ea typeface="Helvetica Neue"/>
                <a:cs typeface="Helvetica Neue"/>
              </a:defRPr>
            </a:pPr>
            <a:r>
              <a:rPr sz="2175" b="1">
                <a:solidFill>
                  <a:srgbClr val="202126"/>
                </a:solidFill>
                <a:latin typeface="Helvetica Neue"/>
                <a:ea typeface="Helvetica Neue"/>
                <a:cs typeface="Helvetica Neue"/>
              </a:rPr>
              <a:t>persistent.py + collector_host.cpp</a:t>
            </a:r>
          </a:p>
        </p:txBody>
      </p:sp>
      <p:sp>
        <p:nvSpPr>
          <p:cNvPr id="11" name="text-10">
            <a:extLst>
              <a:ext uri="{FF2B5EF4-FFF2-40B4-BE49-F238E27FC236}">
                <a16:creationId xmlns:a16="http://schemas.microsoft.com/office/drawing/2014/main" id="{86450318-8EF7-4D78-961A-E0AED14FB528}"/>
              </a:ext>
            </a:extLst>
          </p:cNvPr>
          <p:cNvSpPr>
            <a:spLocks noGrp="1"/>
          </p:cNvSpPr>
          <p:nvPr/>
        </p:nvSpPr>
        <p:spPr>
          <a:xfrm>
            <a:off x="3676650" y="4352925"/>
            <a:ext cx="7972425"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Explore device collection across jobs and idle gaps</a:t>
            </a:r>
          </a:p>
        </p:txBody>
      </p:sp>
      <p:sp>
        <p:nvSpPr>
          <p:cNvPr id="12" name="text-11">
            <a:extLst>
              <a:ext uri="{FF2B5EF4-FFF2-40B4-BE49-F238E27FC236}">
                <a16:creationId xmlns:a16="http://schemas.microsoft.com/office/drawing/2014/main" id="{6E9CA6F5-A1DD-4CD1-988A-D66E0BF3ADDD}"/>
              </a:ext>
            </a:extLst>
          </p:cNvPr>
          <p:cNvSpPr>
            <a:spLocks noGrp="1"/>
          </p:cNvSpPr>
          <p:nvPr/>
        </p:nvSpPr>
        <p:spPr>
          <a:xfrm>
            <a:off x="533400" y="4981575"/>
            <a:ext cx="2714625"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175" b="1">
                <a:solidFill>
                  <a:srgbClr val="C52F40"/>
                </a:solidFill>
                <a:latin typeface="Helvetica Neue"/>
                <a:ea typeface="Helvetica Neue"/>
                <a:cs typeface="Helvetica Neue"/>
              </a:defRPr>
            </a:pPr>
            <a:r>
              <a:rPr sz="2175" b="1">
                <a:solidFill>
                  <a:srgbClr val="C52F40"/>
                </a:solidFill>
                <a:latin typeface="Helvetica Neue"/>
                <a:ea typeface="Helvetica Neue"/>
                <a:cs typeface="Helvetica Neue"/>
              </a:rPr>
              <a:t>Check results</a:t>
            </a:r>
          </a:p>
        </p:txBody>
      </p:sp>
      <p:sp>
        <p:nvSpPr>
          <p:cNvPr id="13" name="text-12">
            <a:extLst>
              <a:ext uri="{FF2B5EF4-FFF2-40B4-BE49-F238E27FC236}">
                <a16:creationId xmlns:a16="http://schemas.microsoft.com/office/drawing/2014/main" id="{E2A5186E-49C6-45D4-B609-AC4EBED3831E}"/>
              </a:ext>
            </a:extLst>
          </p:cNvPr>
          <p:cNvSpPr>
            <a:spLocks noGrp="1"/>
          </p:cNvSpPr>
          <p:nvPr/>
        </p:nvSpPr>
        <p:spPr>
          <a:xfrm>
            <a:off x="3676650" y="4981575"/>
            <a:ext cx="7972425" cy="447675"/>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2175" b="1">
                <a:solidFill>
                  <a:srgbClr val="202126"/>
                </a:solidFill>
                <a:latin typeface="Helvetica Neue"/>
                <a:ea typeface="Helvetica Neue"/>
                <a:cs typeface="Helvetica Neue"/>
              </a:defRPr>
            </a:pPr>
            <a:r>
              <a:rPr sz="2175" b="1">
                <a:solidFill>
                  <a:srgbClr val="202126"/>
                </a:solidFill>
                <a:latin typeface="Helvetica Neue"/>
                <a:ea typeface="Helvetica Neue"/>
                <a:cs typeface="Helvetica Neue"/>
              </a:rPr>
              <a:t>monitor.py + analyze.py</a:t>
            </a:r>
          </a:p>
        </p:txBody>
      </p:sp>
      <p:sp>
        <p:nvSpPr>
          <p:cNvPr id="14" name="text-13">
            <a:extLst>
              <a:ext uri="{FF2B5EF4-FFF2-40B4-BE49-F238E27FC236}">
                <a16:creationId xmlns:a16="http://schemas.microsoft.com/office/drawing/2014/main" id="{E14E583B-E160-46FF-99CB-63BFD8535F07}"/>
              </a:ext>
            </a:extLst>
          </p:cNvPr>
          <p:cNvSpPr>
            <a:spLocks noGrp="1"/>
          </p:cNvSpPr>
          <p:nvPr/>
        </p:nvSpPr>
        <p:spPr>
          <a:xfrm>
            <a:off x="3676650" y="5438775"/>
            <a:ext cx="7972425" cy="571500"/>
          </a:xfrm>
          <a:prstGeom prst="rect">
            <a:avLst/>
          </a:prstGeom>
          <a:noFill/>
          <a:ln w="0">
            <a:noFill/>
          </a:ln>
        </p:spPr>
        <p:txBody>
          <a:bodyPr wrap="square" lIns="0" tIns="0" rIns="0" bIns="0" anchor="t">
            <a:noAutofit/>
          </a:bodyPr>
          <a:lstStyle/>
          <a:p>
            <a:pPr marL="0" indent="0" algn="l">
              <a:lnSpc>
                <a:spcPct val="110000"/>
              </a:lnSpc>
              <a:spcBef>
                <a:spcPts val="0"/>
              </a:spcBef>
              <a:spcAft>
                <a:spcPts val="0"/>
              </a:spcAft>
              <a:buNone/>
              <a:defRPr sz="1875" b="0">
                <a:solidFill>
                  <a:srgbClr val="202126"/>
                </a:solidFill>
                <a:latin typeface="Helvetica Neue"/>
                <a:ea typeface="Helvetica Neue"/>
                <a:cs typeface="Helvetica Neue"/>
              </a:defRPr>
            </a:pPr>
            <a:r>
              <a:rPr sz="1875" b="0">
                <a:solidFill>
                  <a:srgbClr val="202126"/>
                </a:solidFill>
                <a:latin typeface="Helvetica Neue"/>
                <a:ea typeface="Helvetica Neue"/>
                <a:cs typeface="Helvetica Neue"/>
              </a:rPr>
              <a:t>Check timing, CPU/memory use, data delivery, and errors</a:t>
            </a:r>
          </a:p>
        </p:txBody>
      </p:sp>
    </p:spTree>
    <p:extLst>
      <p:ext uri="{BB962C8B-B14F-4D97-AF65-F5344CB8AC3E}">
        <p14:creationId xmlns:p14="http://schemas.microsoft.com/office/powerpoint/2010/main" val="3667182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191E"/>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3A45667-4585-4F14-A892-A0B495D647D2}"/>
              </a:ext>
            </a:extLst>
          </p:cNvPr>
          <p:cNvSpPr>
            <a:spLocks noGrp="1"/>
          </p:cNvSpPr>
          <p:nvPr/>
        </p:nvSpPr>
        <p:spPr>
          <a:xfrm>
            <a:off x="514350" y="419100"/>
            <a:ext cx="11163300" cy="1000125"/>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Workload characterization plan</a:t>
            </a:r>
          </a:p>
        </p:txBody>
      </p:sp>
      <p:sp>
        <p:nvSpPr>
          <p:cNvPr id="2" name="Rectangle 1">
            <a:extLst>
              <a:ext uri="{FF2B5EF4-FFF2-40B4-BE49-F238E27FC236}">
                <a16:creationId xmlns:a16="http://schemas.microsoft.com/office/drawing/2014/main" id="{4EBC01A4-47AE-48A4-9A4D-3592438D114C}"/>
              </a:ext>
            </a:extLst>
          </p:cNvPr>
          <p:cNvSpPr>
            <a:spLocks noGrp="1"/>
          </p:cNvSpPr>
          <p:nvPr/>
        </p:nvSpPr>
        <p:spPr>
          <a:xfrm>
            <a:off x="533400" y="1476375"/>
            <a:ext cx="11125200" cy="72390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Profile jobs separately, then measure how they affect each other.</a:t>
            </a:r>
          </a:p>
        </p:txBody>
      </p:sp>
      <p:sp>
        <p:nvSpPr>
          <p:cNvPr id="3" name="Rectangle 2">
            <a:extLst>
              <a:ext uri="{FF2B5EF4-FFF2-40B4-BE49-F238E27FC236}">
                <a16:creationId xmlns:a16="http://schemas.microsoft.com/office/drawing/2014/main" id="{A036E8F7-3B13-4F56-90FD-028649EDE3C9}"/>
              </a:ext>
            </a:extLst>
          </p:cNvPr>
          <p:cNvSpPr>
            <a:spLocks noGrp="1"/>
          </p:cNvSpPr>
          <p:nvPr/>
        </p:nvSpPr>
        <p:spPr>
          <a:xfrm>
            <a:off x="533400" y="2381250"/>
            <a:ext cx="3476625" cy="78105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025" b="1">
                <a:solidFill>
                  <a:srgbClr val="FF6B72"/>
                </a:solidFill>
                <a:latin typeface="Helvetica Neue"/>
                <a:ea typeface="Helvetica Neue"/>
                <a:cs typeface="Helvetica Neue"/>
              </a:defRPr>
            </a:pPr>
            <a:r>
              <a:rPr sz="2025" b="1">
                <a:solidFill>
                  <a:srgbClr val="FF6B72"/>
                </a:solidFill>
                <a:latin typeface="Helvetica Neue"/>
                <a:ea typeface="Helvetica Neue"/>
                <a:cs typeface="Helvetica Neue"/>
              </a:rPr>
              <a:t>Choose workloads</a:t>
            </a:r>
          </a:p>
        </p:txBody>
      </p:sp>
      <p:sp>
        <p:nvSpPr>
          <p:cNvPr id="4" name="Rectangle 3">
            <a:extLst>
              <a:ext uri="{FF2B5EF4-FFF2-40B4-BE49-F238E27FC236}">
                <a16:creationId xmlns:a16="http://schemas.microsoft.com/office/drawing/2014/main" id="{9FA8046C-874D-4622-BB9F-C63042583B11}"/>
              </a:ext>
            </a:extLst>
          </p:cNvPr>
          <p:cNvSpPr>
            <a:spLocks noGrp="1"/>
          </p:cNvSpPr>
          <p:nvPr/>
        </p:nvSpPr>
        <p:spPr>
          <a:xfrm>
            <a:off x="4352925" y="2381250"/>
            <a:ext cx="7305675" cy="809625"/>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Start with memory and compute test workloads.</a:t>
            </a:r>
          </a:p>
          <a:p>
            <a:pPr marL="0" indent="0">
              <a:lnSpc>
                <a:spcPct val="112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Then add scientific applications from InfinityHub-CI.</a:t>
            </a:r>
          </a:p>
        </p:txBody>
      </p:sp>
      <p:sp>
        <p:nvSpPr>
          <p:cNvPr id="5" name="Rectangle 4">
            <a:extLst>
              <a:ext uri="{FF2B5EF4-FFF2-40B4-BE49-F238E27FC236}">
                <a16:creationId xmlns:a16="http://schemas.microsoft.com/office/drawing/2014/main" id="{71B7629C-D248-48B5-9FEB-0A6748BC46E2}"/>
              </a:ext>
            </a:extLst>
          </p:cNvPr>
          <p:cNvSpPr>
            <a:spLocks noGrp="1"/>
          </p:cNvSpPr>
          <p:nvPr/>
        </p:nvSpPr>
        <p:spPr>
          <a:xfrm>
            <a:off x="533400" y="3276600"/>
            <a:ext cx="3476625" cy="78105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025" b="1">
                <a:solidFill>
                  <a:srgbClr val="FF6B72"/>
                </a:solidFill>
                <a:latin typeface="Helvetica Neue"/>
                <a:ea typeface="Helvetica Neue"/>
                <a:cs typeface="Helvetica Neue"/>
              </a:defRPr>
            </a:pPr>
            <a:r>
              <a:rPr sz="2025" b="1">
                <a:solidFill>
                  <a:srgbClr val="FF6B72"/>
                </a:solidFill>
                <a:latin typeface="Helvetica Neue"/>
                <a:ea typeface="Helvetica Neue"/>
                <a:cs typeface="Helvetica Neue"/>
              </a:rPr>
              <a:t>Profile each workload</a:t>
            </a:r>
          </a:p>
        </p:txBody>
      </p:sp>
      <p:sp>
        <p:nvSpPr>
          <p:cNvPr id="6" name="Rectangle 5">
            <a:extLst>
              <a:ext uri="{FF2B5EF4-FFF2-40B4-BE49-F238E27FC236}">
                <a16:creationId xmlns:a16="http://schemas.microsoft.com/office/drawing/2014/main" id="{46A27F9F-3E4B-4A94-B1B7-26E29C0E1BFD}"/>
              </a:ext>
            </a:extLst>
          </p:cNvPr>
          <p:cNvSpPr>
            <a:spLocks noGrp="1"/>
          </p:cNvSpPr>
          <p:nvPr/>
        </p:nvSpPr>
        <p:spPr>
          <a:xfrm>
            <a:off x="4352925" y="3276600"/>
            <a:ext cx="7305675" cy="809625"/>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Separate PMC and trace passes.</a:t>
            </a:r>
          </a:p>
          <a:p>
            <a:pPr marL="0" indent="0">
              <a:lnSpc>
                <a:spcPct val="112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Activity, instruction mix, cache behavior, and kernel timing.</a:t>
            </a:r>
          </a:p>
        </p:txBody>
      </p:sp>
      <p:sp>
        <p:nvSpPr>
          <p:cNvPr id="7" name="Rectangle 6">
            <a:extLst>
              <a:ext uri="{FF2B5EF4-FFF2-40B4-BE49-F238E27FC236}">
                <a16:creationId xmlns:a16="http://schemas.microsoft.com/office/drawing/2014/main" id="{DD804BA4-BF6B-4949-95EF-86E963A3FFAA}"/>
              </a:ext>
            </a:extLst>
          </p:cNvPr>
          <p:cNvSpPr>
            <a:spLocks noGrp="1"/>
          </p:cNvSpPr>
          <p:nvPr/>
        </p:nvSpPr>
        <p:spPr>
          <a:xfrm>
            <a:off x="533400" y="4171950"/>
            <a:ext cx="3476625" cy="78105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025" b="1">
                <a:solidFill>
                  <a:srgbClr val="FF6B72"/>
                </a:solidFill>
                <a:latin typeface="Helvetica Neue"/>
                <a:ea typeface="Helvetica Neue"/>
                <a:cs typeface="Helvetica Neue"/>
              </a:defRPr>
            </a:pPr>
            <a:r>
              <a:rPr sz="2025" b="1">
                <a:solidFill>
                  <a:srgbClr val="FF6B72"/>
                </a:solidFill>
                <a:latin typeface="Helvetica Neue"/>
                <a:ea typeface="Helvetica Neue"/>
                <a:cs typeface="Helvetica Neue"/>
              </a:rPr>
              <a:t>Validate the measurements</a:t>
            </a:r>
          </a:p>
        </p:txBody>
      </p:sp>
      <p:sp>
        <p:nvSpPr>
          <p:cNvPr id="8" name="Rectangle 7">
            <a:extLst>
              <a:ext uri="{FF2B5EF4-FFF2-40B4-BE49-F238E27FC236}">
                <a16:creationId xmlns:a16="http://schemas.microsoft.com/office/drawing/2014/main" id="{774649DD-4D74-47D7-8E1C-1EB624F4F378}"/>
              </a:ext>
            </a:extLst>
          </p:cNvPr>
          <p:cNvSpPr>
            <a:spLocks noGrp="1"/>
          </p:cNvSpPr>
          <p:nvPr/>
        </p:nvSpPr>
        <p:spPr>
          <a:xfrm>
            <a:off x="4352925" y="4171950"/>
            <a:ext cx="7305675" cy="809625"/>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Check definitions, missing samples, and repeatability.</a:t>
            </a:r>
          </a:p>
          <a:p>
            <a:pPr marL="0" indent="0">
              <a:lnSpc>
                <a:spcPct val="112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Derive rates and ratios only from validated counters.</a:t>
            </a:r>
          </a:p>
        </p:txBody>
      </p:sp>
      <p:sp>
        <p:nvSpPr>
          <p:cNvPr id="9" name="Rectangle 8">
            <a:extLst>
              <a:ext uri="{FF2B5EF4-FFF2-40B4-BE49-F238E27FC236}">
                <a16:creationId xmlns:a16="http://schemas.microsoft.com/office/drawing/2014/main" id="{3C7C5A02-C91B-4C25-967D-B8E15BAB91BC}"/>
              </a:ext>
            </a:extLst>
          </p:cNvPr>
          <p:cNvSpPr>
            <a:spLocks noGrp="1"/>
          </p:cNvSpPr>
          <p:nvPr/>
        </p:nvSpPr>
        <p:spPr>
          <a:xfrm>
            <a:off x="533400" y="5067300"/>
            <a:ext cx="3476625" cy="78105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025" b="1">
                <a:solidFill>
                  <a:srgbClr val="FF6B72"/>
                </a:solidFill>
                <a:latin typeface="Helvetica Neue"/>
                <a:ea typeface="Helvetica Neue"/>
                <a:cs typeface="Helvetica Neue"/>
              </a:defRPr>
            </a:pPr>
            <a:r>
              <a:rPr sz="2025" b="1">
                <a:solidFill>
                  <a:srgbClr val="FF6B72"/>
                </a:solidFill>
                <a:latin typeface="Helvetica Neue"/>
                <a:ea typeface="Helvetica Neue"/>
                <a:cs typeface="Helvetica Neue"/>
              </a:rPr>
              <a:t>Measure sharing effects</a:t>
            </a:r>
          </a:p>
        </p:txBody>
      </p:sp>
      <p:sp>
        <p:nvSpPr>
          <p:cNvPr id="10" name="Rectangle 9">
            <a:extLst>
              <a:ext uri="{FF2B5EF4-FFF2-40B4-BE49-F238E27FC236}">
                <a16:creationId xmlns:a16="http://schemas.microsoft.com/office/drawing/2014/main" id="{A8031217-E022-4058-967B-EBB8B83901E5}"/>
              </a:ext>
            </a:extLst>
          </p:cNvPr>
          <p:cNvSpPr>
            <a:spLocks noGrp="1"/>
          </p:cNvSpPr>
          <p:nvPr/>
        </p:nvSpPr>
        <p:spPr>
          <a:xfrm>
            <a:off x="4352925" y="5067300"/>
            <a:ext cx="7305675" cy="809625"/>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Compare jobs running alone and together, without profiling.</a:t>
            </a:r>
          </a:p>
          <a:p>
            <a:pPr marL="0" indent="0">
              <a:lnSpc>
                <a:spcPct val="112000"/>
              </a:lnSpc>
              <a:spcBef>
                <a:spcPts val="0"/>
              </a:spcBef>
              <a:spcAft>
                <a:spcPts val="0"/>
              </a:spcAft>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Test whether the profiles help explain each job’s slowdown.</a:t>
            </a:r>
          </a:p>
        </p:txBody>
      </p:sp>
      <p:sp>
        <p:nvSpPr>
          <p:cNvPr id="11" name="Rectangle 10">
            <a:extLst>
              <a:ext uri="{FF2B5EF4-FFF2-40B4-BE49-F238E27FC236}">
                <a16:creationId xmlns:a16="http://schemas.microsoft.com/office/drawing/2014/main" id="{B2BE5387-6BBE-4C7E-B10D-94BFE51C6EF3}"/>
              </a:ext>
            </a:extLst>
          </p:cNvPr>
          <p:cNvSpPr>
            <a:spLocks noGrp="1"/>
          </p:cNvSpPr>
          <p:nvPr/>
        </p:nvSpPr>
        <p:spPr>
          <a:xfrm>
            <a:off x="533400" y="6191250"/>
            <a:ext cx="10620375" cy="32385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1650" b="0">
                <a:solidFill>
                  <a:srgbClr val="BFC2CA"/>
                </a:solidFill>
                <a:latin typeface="Helvetica Neue"/>
                <a:ea typeface="Helvetica Neue"/>
                <a:cs typeface="Helvetica Neue"/>
              </a:defRPr>
            </a:pPr>
            <a:r>
              <a:rPr sz="1650" b="0">
                <a:solidFill>
                  <a:srgbClr val="BFC2CA"/>
                </a:solidFill>
                <a:latin typeface="Helvetica Neue"/>
                <a:ea typeface="Helvetica Neue"/>
                <a:cs typeface="Helvetica Neue"/>
              </a:rPr>
              <a:t>Study design informed by KACE and PEACE.</a:t>
            </a:r>
          </a:p>
        </p:txBody>
      </p:sp>
      <p:sp>
        <p:nvSpPr>
          <p:cNvPr id="12" name="Rectangle 11">
            <a:extLst>
              <a:ext uri="{FF2B5EF4-FFF2-40B4-BE49-F238E27FC236}">
                <a16:creationId xmlns:a16="http://schemas.microsoft.com/office/drawing/2014/main" id="{4DB87241-109E-4398-BC3E-5B3B644F69DD}"/>
              </a:ext>
            </a:extLst>
          </p:cNvPr>
          <p:cNvSpPr>
            <a:spLocks noGrp="1"/>
          </p:cNvSpPr>
          <p:nvPr/>
        </p:nvSpPr>
        <p:spPr>
          <a:xfrm>
            <a:off x="11144250" y="6362700"/>
            <a:ext cx="523875" cy="20955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1125" b="0">
                <a:solidFill>
                  <a:srgbClr val="BFC2CA"/>
                </a:solidFill>
                <a:latin typeface="Helvetica Neue"/>
                <a:ea typeface="Helvetica Neue"/>
                <a:cs typeface="Helvetica Neue"/>
              </a:defRPr>
            </a:pPr>
            <a:r>
              <a:rPr sz="1125" b="0">
                <a:solidFill>
                  <a:srgbClr val="BFC2CA"/>
                </a:solidFill>
                <a:latin typeface="Helvetica Neue"/>
                <a:ea typeface="Helvetica Neue"/>
                <a:cs typeface="Helvetica Neue"/>
              </a:rPr>
              <a:t>08</a:t>
            </a:r>
          </a:p>
        </p:txBody>
      </p:sp>
    </p:spTree>
    <p:extLst>
      <p:ext uri="{BB962C8B-B14F-4D97-AF65-F5344CB8AC3E}">
        <p14:creationId xmlns:p14="http://schemas.microsoft.com/office/powerpoint/2010/main" val="3667182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191E"/>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217BF5-FDF2-4AB1-A273-361EDF98CE22}"/>
              </a:ext>
            </a:extLst>
          </p:cNvPr>
          <p:cNvSpPr>
            <a:spLocks noGrp="1"/>
          </p:cNvSpPr>
          <p:nvPr/>
        </p:nvSpPr>
        <p:spPr>
          <a:xfrm>
            <a:off x="514350" y="419100"/>
            <a:ext cx="11163300" cy="1000125"/>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3450" b="1">
                <a:solidFill>
                  <a:srgbClr val="FFFFFF"/>
                </a:solidFill>
                <a:latin typeface="Helvetica Neue"/>
                <a:ea typeface="Helvetica Neue"/>
                <a:cs typeface="Helvetica Neue"/>
              </a:defRPr>
            </a:pPr>
            <a:r>
              <a:rPr sz="3450" b="1" dirty="0">
                <a:solidFill>
                  <a:srgbClr val="FFFFFF"/>
                </a:solidFill>
                <a:latin typeface="Helvetica Neue"/>
                <a:ea typeface="Helvetica Neue"/>
                <a:cs typeface="Helvetica Neue"/>
              </a:rPr>
              <a:t>Discussion</a:t>
            </a:r>
          </a:p>
        </p:txBody>
      </p:sp>
      <p:sp>
        <p:nvSpPr>
          <p:cNvPr id="2" name="Rectangle 1">
            <a:extLst>
              <a:ext uri="{FF2B5EF4-FFF2-40B4-BE49-F238E27FC236}">
                <a16:creationId xmlns:a16="http://schemas.microsoft.com/office/drawing/2014/main" id="{036864E2-CE47-474B-919C-81C815E25D31}"/>
              </a:ext>
            </a:extLst>
          </p:cNvPr>
          <p:cNvSpPr>
            <a:spLocks noGrp="1"/>
          </p:cNvSpPr>
          <p:nvPr/>
        </p:nvSpPr>
        <p:spPr>
          <a:xfrm>
            <a:off x="533400" y="1590675"/>
            <a:ext cx="11125200" cy="45720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100" b="1">
                <a:solidFill>
                  <a:srgbClr val="FF6B72"/>
                </a:solidFill>
                <a:latin typeface="Helvetica Neue"/>
                <a:ea typeface="Helvetica Neue"/>
                <a:cs typeface="Helvetica Neue"/>
              </a:defRPr>
            </a:pPr>
            <a:r>
              <a:rPr sz="2100" b="1">
                <a:solidFill>
                  <a:srgbClr val="FF6B72"/>
                </a:solidFill>
                <a:latin typeface="Helvetica Neue"/>
                <a:ea typeface="Helvetica Neue"/>
                <a:cs typeface="Helvetica Neue"/>
              </a:rPr>
              <a:t>Workload characterization</a:t>
            </a:r>
          </a:p>
        </p:txBody>
      </p:sp>
      <p:sp>
        <p:nvSpPr>
          <p:cNvPr id="3" name="Rectangle 2">
            <a:extLst>
              <a:ext uri="{FF2B5EF4-FFF2-40B4-BE49-F238E27FC236}">
                <a16:creationId xmlns:a16="http://schemas.microsoft.com/office/drawing/2014/main" id="{E7EB9B0D-D073-42E7-87EF-3396B152A6AA}"/>
              </a:ext>
            </a:extLst>
          </p:cNvPr>
          <p:cNvSpPr>
            <a:spLocks noGrp="1"/>
          </p:cNvSpPr>
          <p:nvPr/>
        </p:nvSpPr>
        <p:spPr>
          <a:xfrm>
            <a:off x="533400" y="2066925"/>
            <a:ext cx="11125200" cy="923925"/>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How would you refine this plan to identify workload features</a:t>
            </a:r>
          </a:p>
          <a:p>
            <a:pPr marL="0" indent="0">
              <a:lnSpc>
                <a:spcPct val="112000"/>
              </a:lnSpc>
              <a:spcBef>
                <a:spcPts val="0"/>
              </a:spcBef>
              <a:spcAft>
                <a:spcPts val="0"/>
              </a:spcAft>
              <a:buNone/>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that can inform scheduling?</a:t>
            </a:r>
          </a:p>
        </p:txBody>
      </p:sp>
      <p:sp>
        <p:nvSpPr>
          <p:cNvPr id="4" name="Rectangle 3">
            <a:extLst>
              <a:ext uri="{FF2B5EF4-FFF2-40B4-BE49-F238E27FC236}">
                <a16:creationId xmlns:a16="http://schemas.microsoft.com/office/drawing/2014/main" id="{7B3BFA4E-AFB2-4537-8015-302674579F8D}"/>
              </a:ext>
            </a:extLst>
          </p:cNvPr>
          <p:cNvSpPr>
            <a:spLocks noGrp="1"/>
          </p:cNvSpPr>
          <p:nvPr/>
        </p:nvSpPr>
        <p:spPr>
          <a:xfrm>
            <a:off x="533400" y="3209925"/>
            <a:ext cx="11125200" cy="45720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100" b="1">
                <a:solidFill>
                  <a:srgbClr val="FF6B72"/>
                </a:solidFill>
                <a:latin typeface="Helvetica Neue"/>
                <a:ea typeface="Helvetica Neue"/>
                <a:cs typeface="Helvetica Neue"/>
              </a:defRPr>
            </a:pPr>
            <a:r>
              <a:rPr sz="2100" b="1">
                <a:solidFill>
                  <a:srgbClr val="FF6B72"/>
                </a:solidFill>
                <a:latin typeface="Helvetica Neue"/>
                <a:ea typeface="Helvetica Neue"/>
                <a:cs typeface="Helvetica Neue"/>
              </a:rPr>
              <a:t>Study design</a:t>
            </a:r>
          </a:p>
        </p:txBody>
      </p:sp>
      <p:sp>
        <p:nvSpPr>
          <p:cNvPr id="5" name="Rectangle 4">
            <a:extLst>
              <a:ext uri="{FF2B5EF4-FFF2-40B4-BE49-F238E27FC236}">
                <a16:creationId xmlns:a16="http://schemas.microsoft.com/office/drawing/2014/main" id="{5BF8C384-86D5-4A4B-A4A5-DE7F8D34F153}"/>
              </a:ext>
            </a:extLst>
          </p:cNvPr>
          <p:cNvSpPr>
            <a:spLocks noGrp="1"/>
          </p:cNvSpPr>
          <p:nvPr/>
        </p:nvSpPr>
        <p:spPr>
          <a:xfrm>
            <a:off x="533400" y="3686175"/>
            <a:ext cx="11125200" cy="923925"/>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325" b="0">
                <a:solidFill>
                  <a:srgbClr val="FFFFFF"/>
                </a:solidFill>
                <a:latin typeface="Helvetica Neue"/>
                <a:ea typeface="Helvetica Neue"/>
                <a:cs typeface="Helvetica Neue"/>
              </a:defRPr>
            </a:pPr>
            <a:r>
              <a:rPr sz="2325" b="0" dirty="0">
                <a:solidFill>
                  <a:srgbClr val="FFFFFF"/>
                </a:solidFill>
                <a:latin typeface="Helvetica Neue"/>
                <a:ea typeface="Helvetica Neue"/>
                <a:cs typeface="Helvetica Neue"/>
              </a:rPr>
              <a:t>Which controls and test conditions would you recommend for</a:t>
            </a:r>
          </a:p>
          <a:p>
            <a:pPr marL="0" indent="0">
              <a:lnSpc>
                <a:spcPct val="112000"/>
              </a:lnSpc>
              <a:spcBef>
                <a:spcPts val="0"/>
              </a:spcBef>
              <a:spcAft>
                <a:spcPts val="0"/>
              </a:spcAft>
              <a:buNone/>
              <a:defRPr sz="2325" b="0">
                <a:solidFill>
                  <a:srgbClr val="FFFFFF"/>
                </a:solidFill>
                <a:latin typeface="Helvetica Neue"/>
                <a:ea typeface="Helvetica Neue"/>
                <a:cs typeface="Helvetica Neue"/>
              </a:defRPr>
            </a:pPr>
            <a:r>
              <a:rPr sz="2325" b="0" dirty="0">
                <a:solidFill>
                  <a:srgbClr val="FFFFFF"/>
                </a:solidFill>
                <a:latin typeface="Helvetica Neue"/>
                <a:ea typeface="Helvetica Neue"/>
                <a:cs typeface="Helvetica Neue"/>
              </a:rPr>
              <a:t>the overhead and sharing studies on your systems?</a:t>
            </a:r>
          </a:p>
        </p:txBody>
      </p:sp>
      <p:sp>
        <p:nvSpPr>
          <p:cNvPr id="6" name="Rectangle 5">
            <a:extLst>
              <a:ext uri="{FF2B5EF4-FFF2-40B4-BE49-F238E27FC236}">
                <a16:creationId xmlns:a16="http://schemas.microsoft.com/office/drawing/2014/main" id="{0D30D26A-3405-4F82-8B7A-A7FDE79F7B6A}"/>
              </a:ext>
            </a:extLst>
          </p:cNvPr>
          <p:cNvSpPr>
            <a:spLocks noGrp="1"/>
          </p:cNvSpPr>
          <p:nvPr/>
        </p:nvSpPr>
        <p:spPr>
          <a:xfrm>
            <a:off x="533400" y="4829175"/>
            <a:ext cx="11125200" cy="45720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100" b="1">
                <a:solidFill>
                  <a:srgbClr val="FF6B72"/>
                </a:solidFill>
                <a:latin typeface="Helvetica Neue"/>
                <a:ea typeface="Helvetica Neue"/>
                <a:cs typeface="Helvetica Neue"/>
              </a:defRPr>
            </a:pPr>
            <a:r>
              <a:rPr sz="2100" b="1">
                <a:solidFill>
                  <a:srgbClr val="FF6B72"/>
                </a:solidFill>
                <a:latin typeface="Helvetica Neue"/>
                <a:ea typeface="Helvetica Neue"/>
                <a:cs typeface="Helvetica Neue"/>
              </a:rPr>
              <a:t>Tool structure</a:t>
            </a:r>
          </a:p>
        </p:txBody>
      </p:sp>
      <p:sp>
        <p:nvSpPr>
          <p:cNvPr id="7" name="Rectangle 6">
            <a:extLst>
              <a:ext uri="{FF2B5EF4-FFF2-40B4-BE49-F238E27FC236}">
                <a16:creationId xmlns:a16="http://schemas.microsoft.com/office/drawing/2014/main" id="{3D27DE50-62E4-42F9-9F98-92E1E720298B}"/>
              </a:ext>
            </a:extLst>
          </p:cNvPr>
          <p:cNvSpPr>
            <a:spLocks noGrp="1"/>
          </p:cNvSpPr>
          <p:nvPr/>
        </p:nvSpPr>
        <p:spPr>
          <a:xfrm>
            <a:off x="533400" y="5305425"/>
            <a:ext cx="11125200" cy="923925"/>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2325" b="0">
                <a:solidFill>
                  <a:srgbClr val="FFFFFF"/>
                </a:solidFill>
                <a:latin typeface="Helvetica Neue"/>
                <a:ea typeface="Helvetica Neue"/>
                <a:cs typeface="Helvetica Neue"/>
              </a:defRPr>
            </a:pPr>
            <a:r>
              <a:rPr sz="2325" b="0" dirty="0">
                <a:solidFill>
                  <a:srgbClr val="FFFFFF"/>
                </a:solidFill>
                <a:latin typeface="Helvetica Neue"/>
                <a:ea typeface="Helvetica Neue"/>
                <a:cs typeface="Helvetica Neue"/>
              </a:rPr>
              <a:t>I</a:t>
            </a:r>
            <a:r>
              <a:rPr lang="en-US" sz="2325" b="0" dirty="0">
                <a:solidFill>
                  <a:srgbClr val="FFFFFF"/>
                </a:solidFill>
                <a:latin typeface="Helvetica Neue"/>
                <a:ea typeface="Helvetica Neue"/>
                <a:cs typeface="Helvetica Neue"/>
              </a:rPr>
              <a:t>s there anything that can be improved on for the tool structure</a:t>
            </a:r>
            <a:r>
              <a:rPr sz="2325" b="0" dirty="0">
                <a:solidFill>
                  <a:srgbClr val="FFFFFF"/>
                </a:solidFill>
                <a:latin typeface="Helvetica Neue"/>
                <a:ea typeface="Helvetica Neue"/>
                <a:cs typeface="Helvetica Neue"/>
              </a:rPr>
              <a:t>?</a:t>
            </a:r>
          </a:p>
        </p:txBody>
      </p:sp>
      <p:sp>
        <p:nvSpPr>
          <p:cNvPr id="8" name="Rectangle 7">
            <a:extLst>
              <a:ext uri="{FF2B5EF4-FFF2-40B4-BE49-F238E27FC236}">
                <a16:creationId xmlns:a16="http://schemas.microsoft.com/office/drawing/2014/main" id="{4B6011B9-1A31-4AC4-8AD6-CB31BDD89E3C}"/>
              </a:ext>
            </a:extLst>
          </p:cNvPr>
          <p:cNvSpPr>
            <a:spLocks noGrp="1"/>
          </p:cNvSpPr>
          <p:nvPr/>
        </p:nvSpPr>
        <p:spPr>
          <a:xfrm>
            <a:off x="11144250" y="6362700"/>
            <a:ext cx="523875" cy="209550"/>
          </a:xfrm>
          <a:prstGeom prst="rect">
            <a:avLst/>
          </a:prstGeom>
          <a:noFill/>
          <a:ln w="0">
            <a:noFill/>
          </a:ln>
        </p:spPr>
        <p:txBody>
          <a:bodyPr wrap="square" lIns="0" tIns="0" rIns="0" bIns="0" anchor="t">
            <a:noAutofit/>
          </a:bodyPr>
          <a:lstStyle/>
          <a:p>
            <a:pPr marL="0" indent="0">
              <a:lnSpc>
                <a:spcPct val="112000"/>
              </a:lnSpc>
              <a:spcBef>
                <a:spcPts val="0"/>
              </a:spcBef>
              <a:spcAft>
                <a:spcPts val="0"/>
              </a:spcAft>
              <a:buNone/>
              <a:defRPr sz="1125" b="0">
                <a:solidFill>
                  <a:srgbClr val="BFC2CA"/>
                </a:solidFill>
                <a:latin typeface="Helvetica Neue"/>
                <a:ea typeface="Helvetica Neue"/>
                <a:cs typeface="Helvetica Neue"/>
              </a:defRPr>
            </a:pPr>
            <a:r>
              <a:rPr sz="1125" b="0">
                <a:solidFill>
                  <a:srgbClr val="BFC2CA"/>
                </a:solidFill>
                <a:latin typeface="Helvetica Neue"/>
                <a:ea typeface="Helvetica Neue"/>
                <a:cs typeface="Helvetica Neue"/>
              </a:rPr>
              <a:t>09</a:t>
            </a:r>
          </a:p>
        </p:txBody>
      </p:sp>
    </p:spTree>
    <p:extLst>
      <p:ext uri="{BB962C8B-B14F-4D97-AF65-F5344CB8AC3E}">
        <p14:creationId xmlns:p14="http://schemas.microsoft.com/office/powerpoint/2010/main" val="3667182145"/>
      </p:ext>
    </p:extLst>
  </p:cSld>
  <p:clrMapOvr>
    <a:masterClrMapping/>
  </p:clrMapOvr>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2053</Words>
  <Application>Microsoft Office PowerPoint</Application>
  <DocSecurity>0</DocSecurity>
  <PresentationFormat>Widescreen</PresentationFormat>
  <Paragraphs>211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Consolas</vt:lpstr>
      <vt:lpstr>Helvetica Neue</vt:lpstr>
      <vt:lpstr>Arial</vt:lpstr>
      <vt:lpstr>Default Codex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Nadanam, Ryan</cp:lastModifiedBy>
  <cp:revision>3</cp:revision>
  <dcterms:created xsi:type="dcterms:W3CDTF">2026-09-14T14:31:30Z</dcterms:created>
  <dcterms:modified xsi:type="dcterms:W3CDTF">2026-09-15T20:04:28Z</dcterms:modified>
</cp:coreProperties>
</file>